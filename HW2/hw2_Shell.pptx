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317" r:id="rId7"/>
    <p:sldId id="262" r:id="rId8"/>
    <p:sldId id="264" r:id="rId9"/>
    <p:sldId id="263" r:id="rId10"/>
    <p:sldId id="318" r:id="rId11"/>
    <p:sldId id="266" r:id="rId12"/>
    <p:sldId id="267" r:id="rId13"/>
    <p:sldId id="268" r:id="rId14"/>
    <p:sldId id="269" r:id="rId15"/>
    <p:sldId id="319" r:id="rId16"/>
    <p:sldId id="272" r:id="rId17"/>
    <p:sldId id="273" r:id="rId18"/>
    <p:sldId id="274" r:id="rId19"/>
    <p:sldId id="275" r:id="rId20"/>
    <p:sldId id="276" r:id="rId21"/>
    <p:sldId id="320" r:id="rId22"/>
    <p:sldId id="279" r:id="rId23"/>
    <p:sldId id="280" r:id="rId24"/>
    <p:sldId id="281" r:id="rId25"/>
    <p:sldId id="282" r:id="rId26"/>
    <p:sldId id="321" r:id="rId27"/>
    <p:sldId id="285" r:id="rId28"/>
    <p:sldId id="286" r:id="rId29"/>
    <p:sldId id="289" r:id="rId30"/>
    <p:sldId id="290" r:id="rId31"/>
    <p:sldId id="291" r:id="rId32"/>
    <p:sldId id="322" r:id="rId33"/>
    <p:sldId id="294" r:id="rId34"/>
    <p:sldId id="295" r:id="rId35"/>
    <p:sldId id="323" r:id="rId36"/>
    <p:sldId id="297" r:id="rId37"/>
    <p:sldId id="298" r:id="rId38"/>
    <p:sldId id="324" r:id="rId39"/>
    <p:sldId id="328" r:id="rId40"/>
    <p:sldId id="329" r:id="rId41"/>
    <p:sldId id="327" r:id="rId42"/>
    <p:sldId id="301" r:id="rId43"/>
    <p:sldId id="330" r:id="rId44"/>
    <p:sldId id="325" r:id="rId45"/>
    <p:sldId id="303" r:id="rId46"/>
    <p:sldId id="305" r:id="rId47"/>
    <p:sldId id="306" r:id="rId48"/>
    <p:sldId id="307" r:id="rId49"/>
    <p:sldId id="308" r:id="rId50"/>
    <p:sldId id="326" r:id="rId51"/>
    <p:sldId id="311" r:id="rId52"/>
    <p:sldId id="312" r:id="rId53"/>
    <p:sldId id="313" r:id="rId54"/>
    <p:sldId id="316" r:id="rId55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9" roundtripDataSignature="AMtx7mjTrDKaK5RHW4duDQU6fSpsMpYx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5806" autoAdjust="0"/>
  </p:normalViewPr>
  <p:slideViewPr>
    <p:cSldViewPr snapToGrid="0">
      <p:cViewPr varScale="1">
        <p:scale>
          <a:sx n="93" d="100"/>
          <a:sy n="93" d="100"/>
        </p:scale>
        <p:origin x="1282" y="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9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8093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8" name="Google Shape;1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25497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86681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5098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24399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34643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06703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dirty="0"/>
              <a:t>Parent </a:t>
            </a:r>
            <a:r>
              <a:rPr lang="zh-TW" altLang="en-US" dirty="0"/>
              <a:t>不 </a:t>
            </a:r>
            <a:r>
              <a:rPr lang="en-US" altLang="zh-TW" dirty="0"/>
              <a:t>wait()</a:t>
            </a:r>
            <a:endParaRPr dirty="0"/>
          </a:p>
        </p:txBody>
      </p:sp>
      <p:sp>
        <p:nvSpPr>
          <p:cNvPr id="490" name="Google Shape;49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9" name="Google Shape;49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190247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dirty="0"/>
              <a:t>全名：</a:t>
            </a:r>
            <a:r>
              <a:rPr lang="en-US" altLang="zh-TW" dirty="0"/>
              <a:t>concatenate </a:t>
            </a:r>
            <a:r>
              <a:rPr lang="zh-TW" altLang="en-US" dirty="0"/>
              <a:t>串接</a:t>
            </a:r>
            <a:endParaRPr lang="en-US" altLang="zh-TW" dirty="0"/>
          </a:p>
          <a:p>
            <a:pPr marL="171450" lvl="0" indent="-171450" algn="l" rtl="0"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dirty="0"/>
              <a:t>功能：</a:t>
            </a:r>
            <a:endParaRPr lang="en-US" altLang="zh-TW" dirty="0"/>
          </a:p>
          <a:p>
            <a:pPr marL="685800" lvl="1" indent="-228600" algn="l" rtl="0">
              <a:spcBef>
                <a:spcPts val="36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dirty="0"/>
              <a:t>顯示檔案內容到標準輸出</a:t>
            </a:r>
            <a:endParaRPr lang="en-US" altLang="zh-TW" dirty="0"/>
          </a:p>
          <a:p>
            <a:pPr marL="685800" lvl="1" indent="-228600" algn="l" rtl="0">
              <a:spcBef>
                <a:spcPts val="36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dirty="0"/>
              <a:t>可串接多個檔案輸出</a:t>
            </a:r>
            <a:endParaRPr lang="en-US" altLang="zh-TW" dirty="0"/>
          </a:p>
          <a:p>
            <a:pPr marL="685800" lvl="1" indent="-228600" algn="l" rtl="0">
              <a:spcBef>
                <a:spcPts val="36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dirty="0"/>
              <a:t>可搭配重導向（</a:t>
            </a:r>
            <a:r>
              <a:rPr lang="en-US" altLang="zh-TW" dirty="0"/>
              <a:t>&gt;</a:t>
            </a:r>
            <a:r>
              <a:rPr lang="zh-TW" altLang="en-US" dirty="0"/>
              <a:t>、</a:t>
            </a:r>
            <a:r>
              <a:rPr lang="en-US" altLang="zh-TW" dirty="0"/>
              <a:t>&gt;&gt;</a:t>
            </a:r>
            <a:r>
              <a:rPr lang="zh-TW" altLang="en-US" dirty="0"/>
              <a:t>）</a:t>
            </a:r>
            <a:endParaRPr lang="en-US" altLang="zh-TW" dirty="0"/>
          </a:p>
          <a:p>
            <a:pPr marL="171450" lvl="0" indent="-171450" algn="l" rtl="0"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dirty="0"/>
              <a:t>通常是 </a:t>
            </a:r>
            <a:r>
              <a:rPr lang="en-US" altLang="zh-TW" dirty="0"/>
              <a:t>external command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4" name="Google Shape;51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85357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altLang="zh-TW" dirty="0"/>
              <a:t>Linux </a:t>
            </a:r>
            <a:r>
              <a:rPr lang="zh-TW" altLang="en-US" b="1" dirty="0"/>
              <a:t>標準 </a:t>
            </a:r>
            <a:r>
              <a:rPr lang="en-US" altLang="zh-TW" b="1" dirty="0"/>
              <a:t>I/O</a:t>
            </a:r>
            <a:r>
              <a:rPr lang="zh-TW" altLang="en-US" b="1" dirty="0"/>
              <a:t>（</a:t>
            </a:r>
            <a:r>
              <a:rPr lang="en-US" altLang="zh-TW" b="1" dirty="0"/>
              <a:t>Standard I/O</a:t>
            </a:r>
            <a:r>
              <a:rPr lang="zh-TW" altLang="en-US" b="1" dirty="0"/>
              <a:t>）與輸出導向（</a:t>
            </a:r>
            <a:r>
              <a:rPr lang="en-US" altLang="zh-TW" b="1" dirty="0"/>
              <a:t>Output Redirection</a:t>
            </a:r>
            <a:r>
              <a:rPr lang="zh-TW" altLang="en-US" b="1" dirty="0"/>
              <a:t>）</a:t>
            </a:r>
            <a:r>
              <a:rPr lang="en-US" altLang="zh-TW" dirty="0"/>
              <a:t> </a:t>
            </a:r>
            <a:r>
              <a:rPr lang="zh-TW" altLang="en-US" dirty="0"/>
              <a:t>的基本概念</a:t>
            </a:r>
            <a:endParaRPr lang="en-US" altLang="zh-TW" dirty="0"/>
          </a:p>
          <a:p>
            <a:pPr marL="171450" lvl="0" indent="-171450" algn="l" rtl="0"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171450" lvl="0" indent="-171450" algn="l" rtl="0"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dirty="0"/>
              <a:t>程式會從 </a:t>
            </a:r>
            <a:r>
              <a:rPr lang="en-US" altLang="zh-TW" dirty="0"/>
              <a:t>stdin </a:t>
            </a:r>
            <a:r>
              <a:rPr lang="zh-TW" altLang="en-US" dirty="0"/>
              <a:t>讀取輸入（通常是使用者鍵盤輸入或檔案）</a:t>
            </a:r>
            <a:endParaRPr lang="en-US" altLang="zh-TW" dirty="0"/>
          </a:p>
          <a:p>
            <a:pPr marL="171450" lvl="0" indent="-171450" algn="l" rtl="0"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dirty="0"/>
              <a:t>程式的正常輸出透過 </a:t>
            </a:r>
            <a:r>
              <a:rPr lang="en-US" altLang="zh-TW" dirty="0" err="1"/>
              <a:t>stdout</a:t>
            </a:r>
            <a:r>
              <a:rPr lang="en-US" altLang="zh-TW" dirty="0"/>
              <a:t> </a:t>
            </a:r>
            <a:r>
              <a:rPr lang="zh-TW" altLang="en-US" dirty="0"/>
              <a:t>顯示</a:t>
            </a:r>
            <a:endParaRPr lang="en-US" altLang="zh-TW" dirty="0"/>
          </a:p>
          <a:p>
            <a:pPr marL="171450" lvl="0" indent="-171450" algn="l" rtl="0"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dirty="0"/>
              <a:t>程式的錯誤訊息則透過 </a:t>
            </a:r>
            <a:r>
              <a:rPr lang="en-US" altLang="zh-TW" dirty="0"/>
              <a:t>stderr </a:t>
            </a:r>
            <a:r>
              <a:rPr lang="zh-TW" altLang="en-US" dirty="0"/>
              <a:t>顯示（與 </a:t>
            </a:r>
            <a:r>
              <a:rPr lang="en-US" altLang="zh-TW" dirty="0" err="1"/>
              <a:t>stdout</a:t>
            </a:r>
            <a:r>
              <a:rPr lang="en-US" altLang="zh-TW" dirty="0"/>
              <a:t> </a:t>
            </a:r>
            <a:r>
              <a:rPr lang="zh-TW" altLang="en-US" dirty="0"/>
              <a:t>分開，方便區分與導向）</a:t>
            </a:r>
          </a:p>
        </p:txBody>
      </p:sp>
      <p:sp>
        <p:nvSpPr>
          <p:cNvPr id="514" name="Google Shape;51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23711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zh-TW" altLang="en-US" dirty="0"/>
              <a:t>展示 </a:t>
            </a:r>
            <a:r>
              <a:rPr lang="en-US" altLang="zh-TW" dirty="0"/>
              <a:t>stdin,</a:t>
            </a:r>
            <a:r>
              <a:rPr lang="zh-TW" altLang="en-US" dirty="0"/>
              <a:t> </a:t>
            </a:r>
            <a:r>
              <a:rPr lang="en-US" altLang="zh-TW" dirty="0" err="1"/>
              <a:t>stdout</a:t>
            </a:r>
            <a:r>
              <a:rPr lang="en-US" altLang="zh-TW" dirty="0"/>
              <a:t>,</a:t>
            </a:r>
            <a:r>
              <a:rPr lang="zh-TW" altLang="en-US" dirty="0"/>
              <a:t> </a:t>
            </a:r>
            <a:r>
              <a:rPr lang="en-US" altLang="zh-TW" dirty="0"/>
              <a:t>stderr</a:t>
            </a:r>
            <a:endParaRPr dirty="0"/>
          </a:p>
        </p:txBody>
      </p:sp>
      <p:sp>
        <p:nvSpPr>
          <p:cNvPr id="514" name="Google Shape;51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955583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b="0" dirty="0"/>
              <a:t>&gt; : </a:t>
            </a:r>
            <a:r>
              <a:rPr lang="zh-TW" altLang="en-US" b="0" dirty="0"/>
              <a:t>將 </a:t>
            </a:r>
            <a:r>
              <a:rPr lang="en-US" altLang="zh-TW" b="0" dirty="0" err="1"/>
              <a:t>stdout</a:t>
            </a:r>
            <a:r>
              <a:rPr lang="en-US" altLang="zh-TW" b="0" dirty="0"/>
              <a:t> </a:t>
            </a:r>
            <a:r>
              <a:rPr lang="zh-TW" altLang="en-US" b="0" dirty="0"/>
              <a:t>重新導向到一個檔案。如果檔案已存在，它的內容會被清空並覆蓋；如果檔案不存在，則會建立新檔案</a:t>
            </a:r>
            <a:endParaRPr lang="en-US" altLang="zh-TW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None/>
              <a:tabLst/>
              <a:defRPr/>
            </a:pPr>
            <a:r>
              <a:rPr lang="en-US" altLang="zh-TW" b="0" dirty="0"/>
              <a:t>2&gt; : </a:t>
            </a:r>
            <a:r>
              <a:rPr lang="zh-TW" altLang="en-US" b="0" dirty="0"/>
              <a:t>改成輸出 </a:t>
            </a:r>
            <a:r>
              <a:rPr lang="en-US" altLang="zh-TW" b="0" dirty="0"/>
              <a:t>stderr</a:t>
            </a:r>
            <a:r>
              <a:rPr lang="zh-TW" altLang="en-US" b="0" dirty="0"/>
              <a:t> </a:t>
            </a:r>
            <a:r>
              <a:rPr lang="en-US" altLang="zh-TW" b="0" dirty="0"/>
              <a:t>(</a:t>
            </a:r>
            <a:r>
              <a:rPr lang="zh-TW" altLang="en-US" b="0" dirty="0"/>
              <a:t>覆蓋</a:t>
            </a:r>
            <a:r>
              <a:rPr lang="en-US" altLang="zh-TW" b="0" dirty="0"/>
              <a:t>)</a:t>
            </a:r>
          </a:p>
        </p:txBody>
      </p:sp>
      <p:sp>
        <p:nvSpPr>
          <p:cNvPr id="523" name="Google Shape;52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b="0" dirty="0"/>
              <a:t>&amp;&gt; : </a:t>
            </a:r>
            <a:r>
              <a:rPr lang="zh-TW" altLang="en-US" b="0" dirty="0"/>
              <a:t>將 </a:t>
            </a:r>
            <a:r>
              <a:rPr lang="en-US" altLang="zh-TW" b="0" dirty="0" err="1"/>
              <a:t>stdout</a:t>
            </a:r>
            <a:r>
              <a:rPr lang="en-US" altLang="zh-TW" b="0" dirty="0"/>
              <a:t> </a:t>
            </a:r>
            <a:r>
              <a:rPr lang="zh-TW" altLang="en-US" b="0" dirty="0"/>
              <a:t>和 </a:t>
            </a:r>
            <a:r>
              <a:rPr lang="en-US" altLang="zh-TW" b="0" dirty="0"/>
              <a:t>stderr </a:t>
            </a:r>
            <a:r>
              <a:rPr lang="zh-TW" altLang="en-US" b="0" dirty="0"/>
              <a:t>都導向到 </a:t>
            </a:r>
            <a:r>
              <a:rPr lang="en-US" altLang="zh-TW" b="0" dirty="0"/>
              <a:t>file (</a:t>
            </a:r>
            <a:r>
              <a:rPr lang="zh-TW" altLang="en-US" b="0" dirty="0"/>
              <a:t>覆蓋</a:t>
            </a:r>
            <a:r>
              <a:rPr lang="en-US" altLang="zh-TW" b="0" dirty="0"/>
              <a:t>)</a:t>
            </a:r>
            <a:endParaRPr lang="en-US" b="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b="0" dirty="0"/>
              <a:t>&gt;&gt; :</a:t>
            </a:r>
            <a:r>
              <a:rPr lang="zh-TW" altLang="en-US" b="0" dirty="0"/>
              <a:t> 將 </a:t>
            </a:r>
            <a:r>
              <a:rPr lang="en-US" altLang="zh-TW" b="0" dirty="0" err="1"/>
              <a:t>stdout</a:t>
            </a:r>
            <a:r>
              <a:rPr lang="en-US" altLang="zh-TW" b="0" dirty="0"/>
              <a:t> </a:t>
            </a:r>
            <a:r>
              <a:rPr lang="zh-TW" altLang="en-US" b="0" dirty="0"/>
              <a:t>附加到一個檔案的末尾。如果檔案不存在，它會被建立；如果已存在，新的內容會加在舊內容的後面</a:t>
            </a:r>
            <a:endParaRPr b="0" dirty="0"/>
          </a:p>
        </p:txBody>
      </p:sp>
      <p:sp>
        <p:nvSpPr>
          <p:cNvPr id="523" name="Google Shape;52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09455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110020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4" name="Google Shape;55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zh-TW" altLang="en-US" dirty="0"/>
              <a:t>關閉 </a:t>
            </a:r>
            <a:r>
              <a:rPr lang="en-US" altLang="zh-TW" dirty="0"/>
              <a:t>terminal</a:t>
            </a:r>
            <a:r>
              <a:rPr lang="zh-TW" altLang="en-US" dirty="0"/>
              <a:t> 後，</a:t>
            </a:r>
            <a:r>
              <a:rPr lang="en-US" altLang="zh-TW" dirty="0"/>
              <a:t>command</a:t>
            </a:r>
            <a:r>
              <a:rPr lang="zh-TW" altLang="en-US" dirty="0"/>
              <a:t> 資料才會存入 </a:t>
            </a:r>
            <a:r>
              <a:rPr lang="en-US" altLang="zh-TW" sz="1200" dirty="0"/>
              <a:t>.</a:t>
            </a:r>
            <a:r>
              <a:rPr lang="en-US" altLang="zh-TW" sz="1200" dirty="0" err="1"/>
              <a:t>bash_history</a:t>
            </a:r>
            <a:endParaRPr dirty="0"/>
          </a:p>
        </p:txBody>
      </p:sp>
      <p:sp>
        <p:nvSpPr>
          <p:cNvPr id="566" name="Google Shape;566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157689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9229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標題投影片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6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7" name="Google Shape;27;p62"/>
            <p:cNvSpPr/>
            <p:nvPr/>
          </p:nvSpPr>
          <p:spPr>
            <a:xfrm>
              <a:off x="0" y="0"/>
              <a:ext cx="2208" cy="4320"/>
            </a:xfrm>
            <a:prstGeom prst="rect">
              <a:avLst/>
            </a:prstGeom>
            <a:gradFill>
              <a:gsLst>
                <a:gs pos="0">
                  <a:schemeClr val="folHlink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" name="Google Shape;28;p62"/>
            <p:cNvSpPr/>
            <p:nvPr/>
          </p:nvSpPr>
          <p:spPr>
            <a:xfrm>
              <a:off x="1081" y="1065"/>
              <a:ext cx="4679" cy="159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9" name="Google Shape;29;p62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30" name="Google Shape;30;p62"/>
              <p:cNvSpPr/>
              <p:nvPr/>
            </p:nvSpPr>
            <p:spPr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" name="Google Shape;31;p62"/>
              <p:cNvSpPr/>
              <p:nvPr/>
            </p:nvSpPr>
            <p:spPr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" name="Google Shape;32;p62"/>
              <p:cNvSpPr/>
              <p:nvPr/>
            </p:nvSpPr>
            <p:spPr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" name="Google Shape;33;p62"/>
              <p:cNvSpPr/>
              <p:nvPr/>
            </p:nvSpPr>
            <p:spPr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" name="Google Shape;34;p62"/>
              <p:cNvSpPr/>
              <p:nvPr/>
            </p:nvSpPr>
            <p:spPr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" name="Google Shape;35;p62"/>
              <p:cNvSpPr/>
              <p:nvPr/>
            </p:nvSpPr>
            <p:spPr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" name="Google Shape;36;p62"/>
              <p:cNvSpPr/>
              <p:nvPr/>
            </p:nvSpPr>
            <p:spPr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" name="Google Shape;37;p62"/>
              <p:cNvSpPr/>
              <p:nvPr/>
            </p:nvSpPr>
            <p:spPr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" name="Google Shape;38;p62"/>
              <p:cNvSpPr/>
              <p:nvPr/>
            </p:nvSpPr>
            <p:spPr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" name="Google Shape;39;p62"/>
              <p:cNvSpPr/>
              <p:nvPr/>
            </p:nvSpPr>
            <p:spPr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40" name="Google Shape;40;p62"/>
          <p:cNvSpPr txBox="1">
            <a:spLocks noGrp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2"/>
          <p:cNvSpPr txBox="1">
            <a:spLocks noGrp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500"/>
              </a:spcBef>
              <a:spcAft>
                <a:spcPts val="0"/>
              </a:spcAft>
              <a:buSzPts val="1875"/>
              <a:buFont typeface="Noto Sans Symbols"/>
              <a:buNone/>
              <a:defRPr sz="2500"/>
            </a:lvl1pPr>
            <a:lvl2pPr lvl="1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2" name="Google Shape;42;p62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3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3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8" name="Google Shape;48;p6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6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5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54" name="Google Shape;54;p6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6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5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5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4038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1950" algn="l">
              <a:spcBef>
                <a:spcPts val="560"/>
              </a:spcBef>
              <a:spcAft>
                <a:spcPts val="0"/>
              </a:spcAft>
              <a:buSzPts val="2100"/>
              <a:buChar char="■"/>
              <a:defRPr sz="28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SzPts val="1920"/>
              <a:buChar char="◻"/>
              <a:defRPr sz="2400"/>
            </a:lvl2pPr>
            <a:lvl3pPr marL="1371600" lvl="2" indent="-31115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  <p:sp>
        <p:nvSpPr>
          <p:cNvPr id="60" name="Google Shape;60;p65"/>
          <p:cNvSpPr txBox="1">
            <a:spLocks noGrp="1"/>
          </p:cNvSpPr>
          <p:nvPr>
            <p:ph type="body" idx="2"/>
          </p:nvPr>
        </p:nvSpPr>
        <p:spPr>
          <a:xfrm>
            <a:off x="4648200" y="1268413"/>
            <a:ext cx="4038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1950" algn="l">
              <a:spcBef>
                <a:spcPts val="560"/>
              </a:spcBef>
              <a:spcAft>
                <a:spcPts val="0"/>
              </a:spcAft>
              <a:buSzPts val="2100"/>
              <a:buChar char="■"/>
              <a:defRPr sz="28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SzPts val="1920"/>
              <a:buChar char="◻"/>
              <a:defRPr sz="2400"/>
            </a:lvl2pPr>
            <a:lvl3pPr marL="1371600" lvl="2" indent="-31115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  <p:sp>
        <p:nvSpPr>
          <p:cNvPr id="61" name="Google Shape;61;p6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6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8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6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SzPts val="1600"/>
              <a:buChar char="◻"/>
              <a:defRPr sz="2000"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marL="1828800" lvl="3" indent="-299719" algn="l">
              <a:spcBef>
                <a:spcPts val="320"/>
              </a:spcBef>
              <a:spcAft>
                <a:spcPts val="0"/>
              </a:spcAft>
              <a:buSzPts val="1120"/>
              <a:buChar char="◻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68" name="Google Shape;68;p6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8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6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SzPts val="1600"/>
              <a:buChar char="◻"/>
              <a:defRPr sz="2000"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marL="1828800" lvl="3" indent="-299719" algn="l">
              <a:spcBef>
                <a:spcPts val="320"/>
              </a:spcBef>
              <a:spcAft>
                <a:spcPts val="0"/>
              </a:spcAft>
              <a:buSzPts val="1120"/>
              <a:buChar char="◻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70" name="Google Shape;70;p66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6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7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67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6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6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640"/>
              </a:spcBef>
              <a:spcAft>
                <a:spcPts val="0"/>
              </a:spcAft>
              <a:buSzPts val="2400"/>
              <a:buChar char="■"/>
              <a:defRPr sz="3200"/>
            </a:lvl1pPr>
            <a:lvl2pPr marL="914400" lvl="1" indent="-370840" algn="l">
              <a:spcBef>
                <a:spcPts val="560"/>
              </a:spcBef>
              <a:spcAft>
                <a:spcPts val="0"/>
              </a:spcAft>
              <a:buSzPts val="2240"/>
              <a:buChar char="◻"/>
              <a:defRPr sz="2800"/>
            </a:lvl2pPr>
            <a:lvl3pPr marL="1371600" lvl="2" indent="-32766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3pPr>
            <a:lvl4pPr marL="1828800" lvl="3" indent="-317500" algn="l">
              <a:spcBef>
                <a:spcPts val="400"/>
              </a:spcBef>
              <a:spcAft>
                <a:spcPts val="0"/>
              </a:spcAft>
              <a:buSzPts val="1400"/>
              <a:buChar char="◻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>
            <a:endParaRPr/>
          </a:p>
        </p:txBody>
      </p:sp>
      <p:sp>
        <p:nvSpPr>
          <p:cNvPr id="85" name="Google Shape;85;p6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6" name="Google Shape;86;p6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6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6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7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7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3" name="Google Shape;93;p70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7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7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1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71"/>
          <p:cNvSpPr txBox="1">
            <a:spLocks noGrp="1"/>
          </p:cNvSpPr>
          <p:nvPr>
            <p:ph type="body" idx="1"/>
          </p:nvPr>
        </p:nvSpPr>
        <p:spPr>
          <a:xfrm rot="5400000">
            <a:off x="2272507" y="-546893"/>
            <a:ext cx="4598987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99" name="Google Shape;99;p7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7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7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2"/>
          <p:cNvSpPr txBox="1">
            <a:spLocks noGrp="1"/>
          </p:cNvSpPr>
          <p:nvPr>
            <p:ph type="title"/>
          </p:nvPr>
        </p:nvSpPr>
        <p:spPr>
          <a:xfrm rot="5400000">
            <a:off x="4953000" y="2133600"/>
            <a:ext cx="54102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72"/>
          <p:cNvSpPr txBox="1">
            <a:spLocks noGrp="1"/>
          </p:cNvSpPr>
          <p:nvPr>
            <p:ph type="body" idx="1"/>
          </p:nvPr>
        </p:nvSpPr>
        <p:spPr>
          <a:xfrm rot="5400000">
            <a:off x="762000" y="152400"/>
            <a:ext cx="54102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105" name="Google Shape;105;p7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7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7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" name="Google Shape;12;p61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3" name="Google Shape;13;p61"/>
            <p:cNvSpPr/>
            <p:nvPr/>
          </p:nvSpPr>
          <p:spPr>
            <a:xfrm>
              <a:off x="0" y="0"/>
              <a:ext cx="180" cy="336"/>
            </a:xfrm>
            <a:prstGeom prst="rect">
              <a:avLst/>
            </a:prstGeom>
            <a:gradFill>
              <a:gsLst>
                <a:gs pos="0">
                  <a:schemeClr val="folHlink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61"/>
            <p:cNvSpPr/>
            <p:nvPr/>
          </p:nvSpPr>
          <p:spPr>
            <a:xfrm>
              <a:off x="260" y="85"/>
              <a:ext cx="5500" cy="17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61"/>
            <p:cNvSpPr/>
            <p:nvPr/>
          </p:nvSpPr>
          <p:spPr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61"/>
            <p:cNvSpPr/>
            <p:nvPr/>
          </p:nvSpPr>
          <p:spPr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61"/>
            <p:cNvSpPr/>
            <p:nvPr/>
          </p:nvSpPr>
          <p:spPr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61"/>
            <p:cNvSpPr/>
            <p:nvPr/>
          </p:nvSpPr>
          <p:spPr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61"/>
            <p:cNvSpPr/>
            <p:nvPr/>
          </p:nvSpPr>
          <p:spPr>
            <a:xfrm>
              <a:off x="83" y="86"/>
              <a:ext cx="89" cy="87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61"/>
            <p:cNvSpPr/>
            <p:nvPr/>
          </p:nvSpPr>
          <p:spPr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61"/>
            <p:cNvSpPr/>
            <p:nvPr/>
          </p:nvSpPr>
          <p:spPr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" name="Google Shape;22;p61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61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004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4639" algn="l" rtl="0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6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n7.org/linux/man-pages/man1/cat.1.html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"/>
          <p:cNvSpPr txBox="1">
            <a:spLocks noGrp="1"/>
          </p:cNvSpPr>
          <p:nvPr>
            <p:ph type="ctrTitle"/>
          </p:nvPr>
        </p:nvSpPr>
        <p:spPr>
          <a:xfrm>
            <a:off x="2306196" y="2329296"/>
            <a:ext cx="6711969" cy="1368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chemeClr val="lt1"/>
                </a:solidFill>
              </a:rPr>
              <a:t>Homework Assignment #2</a:t>
            </a:r>
            <a:br>
              <a:rPr lang="en-US" sz="4800" dirty="0">
                <a:solidFill>
                  <a:schemeClr val="lt1"/>
                </a:solidFill>
              </a:rPr>
            </a:br>
            <a:r>
              <a:rPr lang="en-US" sz="4800" dirty="0">
                <a:solidFill>
                  <a:schemeClr val="lt1"/>
                </a:solidFill>
              </a:rPr>
              <a:t>Shell</a:t>
            </a:r>
            <a:endParaRPr sz="48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rgbClr val="FF0000"/>
                </a:solidFill>
              </a:rPr>
              <a:t>Introduction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Unix Variables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PATH</a:t>
            </a:r>
            <a:endParaRPr sz="20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Related Functions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fork() and wait()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Exec </a:t>
            </a:r>
            <a:r>
              <a:rPr lang="en-US" altLang="zh-TW" sz="2000" dirty="0"/>
              <a:t>F</a:t>
            </a:r>
            <a:r>
              <a:rPr lang="en-US" sz="2000" dirty="0"/>
              <a:t>amily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Internal Command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External Command</a:t>
            </a:r>
            <a:endParaRPr sz="2000" dirty="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Background Execution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Output Redirection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Command </a:t>
            </a:r>
            <a:r>
              <a:rPr lang="en-US" altLang="zh-TW" sz="2400" dirty="0">
                <a:solidFill>
                  <a:schemeClr val="tx1"/>
                </a:solidFill>
              </a:rPr>
              <a:t>History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Exercise</a:t>
            </a:r>
            <a:endParaRPr sz="2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D07418D4-630E-C860-6B35-0A69FDC8D4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A shell is a program that acts as an interface between a</a:t>
            </a:r>
            <a:r>
              <a:rPr lang="en-US" dirty="0"/>
              <a:t> </a:t>
            </a:r>
            <a:r>
              <a:rPr lang="en-US" sz="2400" dirty="0"/>
              <a:t>user and the operating system</a:t>
            </a:r>
            <a:endParaRPr sz="2400" dirty="0"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sp>
        <p:nvSpPr>
          <p:cNvPr id="129" name="Google Shape;129;p3"/>
          <p:cNvSpPr/>
          <p:nvPr/>
        </p:nvSpPr>
        <p:spPr>
          <a:xfrm>
            <a:off x="3617894" y="2487502"/>
            <a:ext cx="1908212" cy="720080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40;p4">
            <a:extLst>
              <a:ext uri="{FF2B5EF4-FFF2-40B4-BE49-F238E27FC236}">
                <a16:creationId xmlns:a16="http://schemas.microsoft.com/office/drawing/2014/main" id="{8377466F-FC78-3D80-5B3C-1DD7BCECAF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Introduction (1/3)</a:t>
            </a:r>
            <a:endParaRPr sz="4400" dirty="0"/>
          </a:p>
        </p:txBody>
      </p:sp>
      <p:cxnSp>
        <p:nvCxnSpPr>
          <p:cNvPr id="5" name="Google Shape;289;p19">
            <a:extLst>
              <a:ext uri="{FF2B5EF4-FFF2-40B4-BE49-F238E27FC236}">
                <a16:creationId xmlns:a16="http://schemas.microsoft.com/office/drawing/2014/main" id="{F3C10033-A809-6426-3409-64591B060C00}"/>
              </a:ext>
            </a:extLst>
          </p:cNvPr>
          <p:cNvCxnSpPr>
            <a:cxnSpLocks/>
            <a:stCxn id="129" idx="2"/>
            <a:endCxn id="10" idx="0"/>
          </p:cNvCxnSpPr>
          <p:nvPr/>
        </p:nvCxnSpPr>
        <p:spPr>
          <a:xfrm>
            <a:off x="4572000" y="3207582"/>
            <a:ext cx="0" cy="603501"/>
          </a:xfrm>
          <a:prstGeom prst="straightConnector1">
            <a:avLst/>
          </a:prstGeom>
          <a:noFill/>
          <a:ln w="34925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" name="Google Shape;289;p19">
            <a:extLst>
              <a:ext uri="{FF2B5EF4-FFF2-40B4-BE49-F238E27FC236}">
                <a16:creationId xmlns:a16="http://schemas.microsoft.com/office/drawing/2014/main" id="{41550AB9-410E-41BF-3F96-BBB5E1A88A75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4572000" y="4531163"/>
            <a:ext cx="0" cy="603501"/>
          </a:xfrm>
          <a:prstGeom prst="straightConnector1">
            <a:avLst/>
          </a:prstGeom>
          <a:noFill/>
          <a:ln w="34925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" name="Google Shape;129;p3">
            <a:extLst>
              <a:ext uri="{FF2B5EF4-FFF2-40B4-BE49-F238E27FC236}">
                <a16:creationId xmlns:a16="http://schemas.microsoft.com/office/drawing/2014/main" id="{7AFCBFA9-0F11-D6D8-E949-B1C1B288C702}"/>
              </a:ext>
            </a:extLst>
          </p:cNvPr>
          <p:cNvSpPr/>
          <p:nvPr/>
        </p:nvSpPr>
        <p:spPr>
          <a:xfrm>
            <a:off x="3617894" y="3811083"/>
            <a:ext cx="1908212" cy="720080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shell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29;p3">
            <a:extLst>
              <a:ext uri="{FF2B5EF4-FFF2-40B4-BE49-F238E27FC236}">
                <a16:creationId xmlns:a16="http://schemas.microsoft.com/office/drawing/2014/main" id="{1320CB3A-DFA8-3EBF-F779-7D180B7DCE92}"/>
              </a:ext>
            </a:extLst>
          </p:cNvPr>
          <p:cNvSpPr/>
          <p:nvPr/>
        </p:nvSpPr>
        <p:spPr>
          <a:xfrm>
            <a:off x="3617894" y="5134664"/>
            <a:ext cx="1908212" cy="720080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B213AA89-4630-51C6-97CB-4A7BB21CFFD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63A4E0B-28E3-C6C9-89E4-5AC029413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60" y="1993161"/>
            <a:ext cx="6985067" cy="3810037"/>
          </a:xfrm>
          <a:prstGeom prst="rect">
            <a:avLst/>
          </a:prstGeom>
        </p:spPr>
      </p:pic>
      <p:sp>
        <p:nvSpPr>
          <p:cNvPr id="140" name="Google Shape;140;p4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Introduction (2/3)</a:t>
            </a:r>
            <a:endParaRPr sz="4400" dirty="0"/>
          </a:p>
        </p:txBody>
      </p:sp>
      <p:sp>
        <p:nvSpPr>
          <p:cNvPr id="144" name="Google Shape;144;p4"/>
          <p:cNvSpPr/>
          <p:nvPr/>
        </p:nvSpPr>
        <p:spPr>
          <a:xfrm>
            <a:off x="4237703" y="1997536"/>
            <a:ext cx="1376516" cy="249788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p4"/>
          <p:cNvCxnSpPr/>
          <p:nvPr/>
        </p:nvCxnSpPr>
        <p:spPr>
          <a:xfrm rot="10800000">
            <a:off x="6444208" y="3351369"/>
            <a:ext cx="0" cy="39703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6" name="Google Shape;146;p4"/>
          <p:cNvSpPr/>
          <p:nvPr/>
        </p:nvSpPr>
        <p:spPr>
          <a:xfrm>
            <a:off x="6708600" y="4397941"/>
            <a:ext cx="1066549" cy="25118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42;p4">
            <a:extLst>
              <a:ext uri="{FF2B5EF4-FFF2-40B4-BE49-F238E27FC236}">
                <a16:creationId xmlns:a16="http://schemas.microsoft.com/office/drawing/2014/main" id="{DEC08B65-FE3A-B862-6289-4986E65282DD}"/>
              </a:ext>
            </a:extLst>
          </p:cNvPr>
          <p:cNvSpPr txBox="1"/>
          <p:nvPr/>
        </p:nvSpPr>
        <p:spPr>
          <a:xfrm>
            <a:off x="3701010" y="4828424"/>
            <a:ext cx="437691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change current user's login shell</a:t>
            </a:r>
            <a:endParaRPr sz="1800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Google Shape;146;p4">
            <a:extLst>
              <a:ext uri="{FF2B5EF4-FFF2-40B4-BE49-F238E27FC236}">
                <a16:creationId xmlns:a16="http://schemas.microsoft.com/office/drawing/2014/main" id="{A6B12597-6C52-E83B-3B5D-73A127D9B829}"/>
              </a:ext>
            </a:extLst>
          </p:cNvPr>
          <p:cNvSpPr/>
          <p:nvPr/>
        </p:nvSpPr>
        <p:spPr>
          <a:xfrm>
            <a:off x="3823810" y="4629460"/>
            <a:ext cx="2291855" cy="25118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46;p4">
            <a:extLst>
              <a:ext uri="{FF2B5EF4-FFF2-40B4-BE49-F238E27FC236}">
                <a16:creationId xmlns:a16="http://schemas.microsoft.com/office/drawing/2014/main" id="{7BF8CAFF-6A35-D008-F796-C7A9261F94F2}"/>
              </a:ext>
            </a:extLst>
          </p:cNvPr>
          <p:cNvSpPr/>
          <p:nvPr/>
        </p:nvSpPr>
        <p:spPr>
          <a:xfrm>
            <a:off x="6708599" y="5287162"/>
            <a:ext cx="852407" cy="25118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636;p58">
            <a:extLst>
              <a:ext uri="{FF2B5EF4-FFF2-40B4-BE49-F238E27FC236}">
                <a16:creationId xmlns:a16="http://schemas.microsoft.com/office/drawing/2014/main" id="{04634BF2-E8FE-5CBE-34E7-4797E9EC7B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Introduction (3/3)</a:t>
            </a:r>
            <a:endParaRPr sz="4400" dirty="0"/>
          </a:p>
        </p:txBody>
      </p:sp>
      <p:sp>
        <p:nvSpPr>
          <p:cNvPr id="153" name="Google Shape;153;p5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A shell command can be …</a:t>
            </a:r>
            <a:endParaRPr sz="2400" dirty="0"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SzPts val="1760"/>
              <a:buChar char="◻"/>
            </a:pPr>
            <a:r>
              <a:rPr lang="en-US" sz="2000" dirty="0"/>
              <a:t>Internal: the code to be executed is part of the shell</a:t>
            </a:r>
            <a:endParaRPr sz="2000" dirty="0"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SzPts val="1300"/>
              <a:buChar char="■"/>
            </a:pPr>
            <a:r>
              <a:rPr lang="en-US" sz="2000" dirty="0"/>
              <a:t>Running these commands </a:t>
            </a:r>
            <a:r>
              <a:rPr lang="en-US" sz="2000" dirty="0">
                <a:solidFill>
                  <a:srgbClr val="FF0000"/>
                </a:solidFill>
              </a:rPr>
              <a:t>does not require searching their path by the system</a:t>
            </a:r>
            <a:endParaRPr sz="2000" dirty="0"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SzPts val="1560"/>
              <a:buChar char="■"/>
            </a:pPr>
            <a:r>
              <a:rPr lang="en-US" sz="2000" dirty="0"/>
              <a:t>Example: cd, pwd, echo, export</a:t>
            </a:r>
          </a:p>
          <a:p>
            <a:pPr marL="228600" indent="-228600">
              <a:spcBef>
                <a:spcPts val="480"/>
              </a:spcBef>
              <a:buSzPts val="1560"/>
            </a:pP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760"/>
              <a:buChar char="◻"/>
            </a:pPr>
            <a:r>
              <a:rPr lang="en-US" sz="2000" dirty="0"/>
              <a:t>External: the code to be executed resides </a:t>
            </a:r>
            <a:r>
              <a:rPr lang="en-US" sz="2000" dirty="0">
                <a:solidFill>
                  <a:srgbClr val="FF0000"/>
                </a:solidFill>
              </a:rPr>
              <a:t>in a separate binary file</a:t>
            </a:r>
            <a:endParaRPr sz="2000" dirty="0"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SzPts val="1430"/>
              <a:buChar char="■"/>
            </a:pPr>
            <a:r>
              <a:rPr lang="en-US" sz="2000" dirty="0"/>
              <a:t>Running these commands </a:t>
            </a:r>
            <a:r>
              <a:rPr lang="en-US" sz="2000" dirty="0">
                <a:solidFill>
                  <a:srgbClr val="FF0000"/>
                </a:solidFill>
              </a:rPr>
              <a:t>requires searching PATH</a:t>
            </a:r>
            <a:r>
              <a:rPr lang="en-US" sz="2000" dirty="0"/>
              <a:t> by the system</a:t>
            </a:r>
            <a:endParaRPr sz="2000" dirty="0"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SzPts val="1560"/>
              <a:buChar char="■"/>
            </a:pPr>
            <a:r>
              <a:rPr lang="en-US" sz="2000" dirty="0"/>
              <a:t>Example: ls, cp</a:t>
            </a:r>
            <a:endParaRPr sz="2000" dirty="0"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sz="2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9456DA5B-6DCF-AF80-3B41-B12D1A642B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Introduction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rgbClr val="FF0000"/>
                </a:solidFill>
              </a:rPr>
              <a:t>Unix </a:t>
            </a:r>
            <a:r>
              <a:rPr lang="en-US" altLang="zh-TW" sz="2400" dirty="0">
                <a:solidFill>
                  <a:srgbClr val="FF0000"/>
                </a:solidFill>
              </a:rPr>
              <a:t>V</a:t>
            </a:r>
            <a:r>
              <a:rPr lang="en-US" sz="2400" dirty="0">
                <a:solidFill>
                  <a:srgbClr val="FF0000"/>
                </a:solidFill>
              </a:rPr>
              <a:t>ariables</a:t>
            </a:r>
            <a:endParaRPr sz="2400" dirty="0">
              <a:solidFill>
                <a:srgbClr val="FF0000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PATH</a:t>
            </a:r>
            <a:endParaRPr sz="20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Related Functions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fork() and wait()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Exec </a:t>
            </a:r>
            <a:r>
              <a:rPr lang="en-US" altLang="zh-TW" sz="2000" dirty="0"/>
              <a:t>F</a:t>
            </a:r>
            <a:r>
              <a:rPr lang="en-US" sz="2000" dirty="0"/>
              <a:t>amily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Internal Command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External Command</a:t>
            </a:r>
            <a:endParaRPr sz="2000" dirty="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Background Execution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Output Redirection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Command </a:t>
            </a:r>
            <a:r>
              <a:rPr lang="en-US" altLang="zh-TW" sz="2400" dirty="0">
                <a:solidFill>
                  <a:schemeClr val="tx1"/>
                </a:solidFill>
              </a:rPr>
              <a:t>History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Exercise</a:t>
            </a:r>
            <a:endParaRPr sz="2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6C5E3C17-4A63-7570-C16C-22C769B777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063565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Unix Variables (1/3)</a:t>
            </a:r>
            <a:endParaRPr sz="4400" dirty="0"/>
          </a:p>
        </p:txBody>
      </p:sp>
      <p:sp>
        <p:nvSpPr>
          <p:cNvPr id="167" name="Google Shape;167;p7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A Unix variable allows passing information from the shell to programs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Standard Unix variables are split into two categories</a:t>
            </a:r>
            <a:endParaRPr sz="2400" dirty="0"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SzPts val="1760"/>
              <a:buChar char="◻"/>
            </a:pPr>
            <a:r>
              <a:rPr lang="en-US" sz="2000" dirty="0"/>
              <a:t>Shell variables</a:t>
            </a:r>
            <a:endParaRPr sz="2000" dirty="0"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SzPts val="1760"/>
              <a:buChar char="◻"/>
            </a:pPr>
            <a:r>
              <a:rPr lang="en-US" sz="2000" dirty="0"/>
              <a:t>Environment variables</a:t>
            </a:r>
            <a:endParaRPr sz="20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16B93B0C-E45E-1E96-2BD2-6E30C0D6CB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Unix Variables (</a:t>
            </a:r>
            <a:r>
              <a:rPr lang="en-US" altLang="zh-TW" sz="4400" dirty="0"/>
              <a:t>2</a:t>
            </a:r>
            <a:r>
              <a:rPr lang="en-US" sz="4400" dirty="0"/>
              <a:t>/3)</a:t>
            </a:r>
            <a:endParaRPr sz="4400" dirty="0"/>
          </a:p>
        </p:txBody>
      </p:sp>
      <p:sp>
        <p:nvSpPr>
          <p:cNvPr id="181" name="Google Shape;181;p9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Example of shell (local) variables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 err="1"/>
              <a:t>argv</a:t>
            </a:r>
            <a:r>
              <a:rPr lang="en-US" sz="2000" dirty="0"/>
              <a:t>: an array of command/program arguments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 err="1"/>
              <a:t>cwd</a:t>
            </a:r>
            <a:r>
              <a:rPr lang="en-US" sz="2000" dirty="0"/>
              <a:t>: the full pathname of the current directory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gid: the user’s real group ID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history: indicates the number of history events to save.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home: initialized to the home directory of the invoker.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 err="1"/>
              <a:t>owd</a:t>
            </a:r>
            <a:r>
              <a:rPr lang="en-US" sz="2000" dirty="0"/>
              <a:t>: the old (pr previous) working directory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path: a list of directories to look for executable commands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prompt: the string printed before reading a command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shell: the full pathname of the running shell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term: the terminal type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 err="1"/>
              <a:t>tty</a:t>
            </a:r>
            <a:r>
              <a:rPr lang="en-US" sz="2000" dirty="0"/>
              <a:t>: the name of the </a:t>
            </a:r>
            <a:r>
              <a:rPr lang="en-US" sz="2000" dirty="0" err="1"/>
              <a:t>tty</a:t>
            </a:r>
            <a:r>
              <a:rPr lang="en-US" sz="2000" dirty="0"/>
              <a:t> (</a:t>
            </a:r>
            <a:r>
              <a:rPr lang="en-US" sz="2000" dirty="0" err="1"/>
              <a:t>TeleTYpe</a:t>
            </a:r>
            <a:r>
              <a:rPr lang="en-US" sz="2000" dirty="0"/>
              <a:t>) terminal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 err="1"/>
              <a:t>uid</a:t>
            </a:r>
            <a:r>
              <a:rPr lang="en-US" sz="2000" dirty="0"/>
              <a:t>: the user’s real user ID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user: the user’s login name</a:t>
            </a:r>
            <a:endParaRPr sz="20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97A0138A-84E3-80B6-70B1-9554F18DFE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8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Unix Variables (</a:t>
            </a:r>
            <a:r>
              <a:rPr lang="en-US" altLang="zh-TW" sz="4400" dirty="0"/>
              <a:t>3</a:t>
            </a:r>
            <a:r>
              <a:rPr lang="en-US" sz="4400" dirty="0"/>
              <a:t>/3)</a:t>
            </a:r>
            <a:endParaRPr sz="4400" dirty="0"/>
          </a:p>
        </p:txBody>
      </p:sp>
      <p:sp>
        <p:nvSpPr>
          <p:cNvPr id="174" name="Google Shape;174;p8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Example of environment (global) variables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OSTYPE: the name of the current operating system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USER: your login name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LOGNAME: the login-name of the user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HOME: the path name of your home directory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MAIL: the path to your mail inbox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HOST: the name of the computer you are using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DISPLAY: the name of the computer screen display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PRINTER: the default printer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EDITOR: the default text editor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>
                <a:solidFill>
                  <a:srgbClr val="FF0000"/>
                </a:solidFill>
              </a:rPr>
              <a:t>PATH: the directories the shell should search to find a command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SHELL: the full pathname of the login shell</a:t>
            </a:r>
            <a:endParaRPr sz="20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B3C1B558-D604-4207-F168-C80F3D2C66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9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Introduction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Unix Variables</a:t>
            </a:r>
            <a:endParaRPr sz="24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rgbClr val="FF0000"/>
                </a:solidFill>
              </a:rPr>
              <a:t>PATH</a:t>
            </a:r>
            <a:endParaRPr sz="2000" dirty="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Related Functions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fork() and wait()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Exec </a:t>
            </a:r>
            <a:r>
              <a:rPr lang="en-US" altLang="zh-TW" sz="2000" dirty="0"/>
              <a:t>F</a:t>
            </a:r>
            <a:r>
              <a:rPr lang="en-US" sz="2000" dirty="0"/>
              <a:t>amily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Internal Command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External Command</a:t>
            </a:r>
            <a:endParaRPr sz="2000" dirty="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Background Execution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Output Redirection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Command </a:t>
            </a:r>
            <a:r>
              <a:rPr lang="en-US" altLang="zh-TW" sz="2400" dirty="0">
                <a:solidFill>
                  <a:schemeClr val="tx1"/>
                </a:solidFill>
              </a:rPr>
              <a:t>History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Exercise</a:t>
            </a:r>
            <a:endParaRPr sz="2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5D1DFB11-98D7-BA14-027C-0F5DDC98EA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10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825752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73;p8">
            <a:extLst>
              <a:ext uri="{FF2B5EF4-FFF2-40B4-BE49-F238E27FC236}">
                <a16:creationId xmlns:a16="http://schemas.microsoft.com/office/drawing/2014/main" id="{68A5D264-0832-FEC6-997E-B8546E6EDE2A}"/>
              </a:ext>
            </a:extLst>
          </p:cNvPr>
          <p:cNvSpPr txBox="1">
            <a:spLocks/>
          </p:cNvSpPr>
          <p:nvPr/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dirty="0"/>
              <a:t>PATH (1/4)</a:t>
            </a:r>
          </a:p>
        </p:txBody>
      </p:sp>
      <p:sp>
        <p:nvSpPr>
          <p:cNvPr id="7" name="Google Shape;167;p7">
            <a:extLst>
              <a:ext uri="{FF2B5EF4-FFF2-40B4-BE49-F238E27FC236}">
                <a16:creationId xmlns:a16="http://schemas.microsoft.com/office/drawing/2014/main" id="{E7CF384D-E239-7AED-2770-6161131FF828}"/>
              </a:ext>
            </a:extLst>
          </p:cNvPr>
          <p:cNvSpPr txBox="1">
            <a:spLocks/>
          </p:cNvSpPr>
          <p:nvPr/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432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289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17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1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■"/>
            </a:pPr>
            <a:r>
              <a:rPr lang="en-US" altLang="zh-TW" sz="2400" dirty="0"/>
              <a:t>The shell will search PATH to find an executable file</a:t>
            </a: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altLang="zh-TW" sz="2400" dirty="0"/>
              <a:t>By PATH variable, user don’t need to </a:t>
            </a:r>
            <a:r>
              <a:rPr lang="en-US" altLang="zh-TW" sz="2400" dirty="0">
                <a:solidFill>
                  <a:srgbClr val="FF0000"/>
                </a:solidFill>
              </a:rPr>
              <a:t>enter complete path to execute the external command</a:t>
            </a: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altLang="zh-TW" sz="2400" dirty="0"/>
              <a:t>To know PATH(echo $PATH)</a:t>
            </a: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altLang="zh-TW" sz="2400" dirty="0">
                <a:solidFill>
                  <a:srgbClr val="FF0000"/>
                </a:solidFill>
              </a:rPr>
              <a:t>ls</a:t>
            </a:r>
            <a:r>
              <a:rPr lang="en-US" altLang="zh-TW" sz="2400" dirty="0"/>
              <a:t> is the </a:t>
            </a:r>
            <a:r>
              <a:rPr lang="en-US" altLang="zh-TW" sz="2400" dirty="0">
                <a:solidFill>
                  <a:srgbClr val="FF0000"/>
                </a:solidFill>
              </a:rPr>
              <a:t>external command</a:t>
            </a:r>
            <a:endParaRPr lang="en-US" altLang="zh-TW" sz="24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086DB1C-148D-1B6A-6A42-E279A594C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471" y="3803458"/>
            <a:ext cx="6853056" cy="1967823"/>
          </a:xfrm>
          <a:prstGeom prst="rect">
            <a:avLst/>
          </a:prstGeom>
        </p:spPr>
      </p:pic>
      <p:sp>
        <p:nvSpPr>
          <p:cNvPr id="203" name="Google Shape;203;p11"/>
          <p:cNvSpPr/>
          <p:nvPr/>
        </p:nvSpPr>
        <p:spPr>
          <a:xfrm>
            <a:off x="5386932" y="4018775"/>
            <a:ext cx="850239" cy="23993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03;p11">
            <a:extLst>
              <a:ext uri="{FF2B5EF4-FFF2-40B4-BE49-F238E27FC236}">
                <a16:creationId xmlns:a16="http://schemas.microsoft.com/office/drawing/2014/main" id="{7B12D130-FD49-B5BE-91D6-0A79FD0B8E02}"/>
              </a:ext>
            </a:extLst>
          </p:cNvPr>
          <p:cNvSpPr/>
          <p:nvPr/>
        </p:nvSpPr>
        <p:spPr>
          <a:xfrm>
            <a:off x="1155096" y="4638529"/>
            <a:ext cx="850239" cy="23993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03;p11">
            <a:extLst>
              <a:ext uri="{FF2B5EF4-FFF2-40B4-BE49-F238E27FC236}">
                <a16:creationId xmlns:a16="http://schemas.microsoft.com/office/drawing/2014/main" id="{697F794B-A321-4831-AE25-771B51285547}"/>
              </a:ext>
            </a:extLst>
          </p:cNvPr>
          <p:cNvSpPr/>
          <p:nvPr/>
        </p:nvSpPr>
        <p:spPr>
          <a:xfrm>
            <a:off x="1155096" y="5047329"/>
            <a:ext cx="850239" cy="23993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636;p58">
            <a:extLst>
              <a:ext uri="{FF2B5EF4-FFF2-40B4-BE49-F238E27FC236}">
                <a16:creationId xmlns:a16="http://schemas.microsoft.com/office/drawing/2014/main" id="{52602542-1573-C035-9A32-8361E28BBAD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11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PATH (2/4)</a:t>
            </a:r>
            <a:endParaRPr sz="44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ACDBECA-2152-8691-32B7-FB7955439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706" y="1268413"/>
            <a:ext cx="5820587" cy="5296639"/>
          </a:xfrm>
          <a:prstGeom prst="rect">
            <a:avLst/>
          </a:prstGeom>
        </p:spPr>
      </p:pic>
      <p:sp>
        <p:nvSpPr>
          <p:cNvPr id="4" name="Google Shape;144;p4">
            <a:extLst>
              <a:ext uri="{FF2B5EF4-FFF2-40B4-BE49-F238E27FC236}">
                <a16:creationId xmlns:a16="http://schemas.microsoft.com/office/drawing/2014/main" id="{C191F61C-C3AB-86D7-65D3-7F67E3F20AC8}"/>
              </a:ext>
            </a:extLst>
          </p:cNvPr>
          <p:cNvSpPr/>
          <p:nvPr/>
        </p:nvSpPr>
        <p:spPr>
          <a:xfrm>
            <a:off x="4809203" y="1721311"/>
            <a:ext cx="524797" cy="212264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42;p4">
            <a:extLst>
              <a:ext uri="{FF2B5EF4-FFF2-40B4-BE49-F238E27FC236}">
                <a16:creationId xmlns:a16="http://schemas.microsoft.com/office/drawing/2014/main" id="{CDCB172D-278D-3211-424B-2C7EB4A7FEB6}"/>
              </a:ext>
            </a:extLst>
          </p:cNvPr>
          <p:cNvSpPr txBox="1"/>
          <p:nvPr/>
        </p:nvSpPr>
        <p:spPr>
          <a:xfrm>
            <a:off x="4809203" y="1913109"/>
            <a:ext cx="241404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write </a:t>
            </a:r>
            <a:r>
              <a:rPr lang="en-US" sz="1800" dirty="0" err="1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add.c</a:t>
            </a:r>
            <a:r>
              <a:rPr lang="en-US" sz="18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on desktop</a:t>
            </a:r>
            <a:endParaRPr sz="1800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6" name="Google Shape;144;p4">
            <a:extLst>
              <a:ext uri="{FF2B5EF4-FFF2-40B4-BE49-F238E27FC236}">
                <a16:creationId xmlns:a16="http://schemas.microsoft.com/office/drawing/2014/main" id="{7A6636A2-9153-EB25-0637-B3ACB88C2FA7}"/>
              </a:ext>
            </a:extLst>
          </p:cNvPr>
          <p:cNvSpPr/>
          <p:nvPr/>
        </p:nvSpPr>
        <p:spPr>
          <a:xfrm>
            <a:off x="4456777" y="3616063"/>
            <a:ext cx="1496347" cy="185002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42;p4">
            <a:extLst>
              <a:ext uri="{FF2B5EF4-FFF2-40B4-BE49-F238E27FC236}">
                <a16:creationId xmlns:a16="http://schemas.microsoft.com/office/drawing/2014/main" id="{ED16E401-9E5F-3FC6-8542-51A752B3F387}"/>
              </a:ext>
            </a:extLst>
          </p:cNvPr>
          <p:cNvSpPr txBox="1"/>
          <p:nvPr/>
        </p:nvSpPr>
        <p:spPr>
          <a:xfrm>
            <a:off x="4456777" y="3214069"/>
            <a:ext cx="266076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compile to executable file</a:t>
            </a:r>
            <a:endParaRPr sz="1800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" name="Google Shape;142;p4">
            <a:extLst>
              <a:ext uri="{FF2B5EF4-FFF2-40B4-BE49-F238E27FC236}">
                <a16:creationId xmlns:a16="http://schemas.microsoft.com/office/drawing/2014/main" id="{03BD689B-2721-5819-0DC4-5EBEB29324D8}"/>
              </a:ext>
            </a:extLst>
          </p:cNvPr>
          <p:cNvSpPr txBox="1"/>
          <p:nvPr/>
        </p:nvSpPr>
        <p:spPr>
          <a:xfrm>
            <a:off x="4316541" y="3913009"/>
            <a:ext cx="331745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add Desktop to PATH temporary </a:t>
            </a:r>
            <a:endParaRPr sz="1800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3" name="Google Shape;144;p4">
            <a:extLst>
              <a:ext uri="{FF2B5EF4-FFF2-40B4-BE49-F238E27FC236}">
                <a16:creationId xmlns:a16="http://schemas.microsoft.com/office/drawing/2014/main" id="{63CDC46A-CFBB-FEA6-7C6D-8AC92F894FCE}"/>
              </a:ext>
            </a:extLst>
          </p:cNvPr>
          <p:cNvSpPr/>
          <p:nvPr/>
        </p:nvSpPr>
        <p:spPr>
          <a:xfrm>
            <a:off x="4456778" y="3803724"/>
            <a:ext cx="2944147" cy="18928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4;p4">
            <a:extLst>
              <a:ext uri="{FF2B5EF4-FFF2-40B4-BE49-F238E27FC236}">
                <a16:creationId xmlns:a16="http://schemas.microsoft.com/office/drawing/2014/main" id="{9D41A15F-BD34-3FB9-22E6-656651534547}"/>
              </a:ext>
            </a:extLst>
          </p:cNvPr>
          <p:cNvSpPr/>
          <p:nvPr/>
        </p:nvSpPr>
        <p:spPr>
          <a:xfrm>
            <a:off x="1661707" y="3964518"/>
            <a:ext cx="757644" cy="18928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44;p4">
            <a:extLst>
              <a:ext uri="{FF2B5EF4-FFF2-40B4-BE49-F238E27FC236}">
                <a16:creationId xmlns:a16="http://schemas.microsoft.com/office/drawing/2014/main" id="{7F0EE3AE-565C-FC8B-B339-3F9AB4535184}"/>
              </a:ext>
            </a:extLst>
          </p:cNvPr>
          <p:cNvSpPr/>
          <p:nvPr/>
        </p:nvSpPr>
        <p:spPr>
          <a:xfrm>
            <a:off x="5353050" y="4469388"/>
            <a:ext cx="2047875" cy="207387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636;p58">
            <a:extLst>
              <a:ext uri="{FF2B5EF4-FFF2-40B4-BE49-F238E27FC236}">
                <a16:creationId xmlns:a16="http://schemas.microsoft.com/office/drawing/2014/main" id="{7B09E971-6627-02EA-3F08-14C4B1308D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12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10" grpId="0"/>
      <p:bldP spid="13" grpId="0" animBg="1"/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58;p16">
            <a:extLst>
              <a:ext uri="{FF2B5EF4-FFF2-40B4-BE49-F238E27FC236}">
                <a16:creationId xmlns:a16="http://schemas.microsoft.com/office/drawing/2014/main" id="{E9700853-F527-1D31-CE5D-FA7B030083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Add path in PATH permanently</a:t>
            </a: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 err="1"/>
              <a:t>sudo</a:t>
            </a:r>
            <a:r>
              <a:rPr lang="en-US" sz="2000" dirty="0"/>
              <a:t> vim /</a:t>
            </a:r>
            <a:r>
              <a:rPr lang="en-US" sz="2000" dirty="0" err="1"/>
              <a:t>etc</a:t>
            </a:r>
            <a:r>
              <a:rPr lang="en-US" sz="2000" dirty="0"/>
              <a:t>/profile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0B14AEF-83F6-3580-E3D0-509280474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672" y="2245524"/>
            <a:ext cx="5742306" cy="4060026"/>
          </a:xfrm>
          <a:prstGeom prst="rect">
            <a:avLst/>
          </a:prstGeom>
        </p:spPr>
      </p:pic>
      <p:sp>
        <p:nvSpPr>
          <p:cNvPr id="225" name="Google Shape;225;p13"/>
          <p:cNvSpPr/>
          <p:nvPr/>
        </p:nvSpPr>
        <p:spPr>
          <a:xfrm>
            <a:off x="1824672" y="5744001"/>
            <a:ext cx="2968072" cy="369291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3;p8">
            <a:extLst>
              <a:ext uri="{FF2B5EF4-FFF2-40B4-BE49-F238E27FC236}">
                <a16:creationId xmlns:a16="http://schemas.microsoft.com/office/drawing/2014/main" id="{648B609B-F498-E077-9C67-A52C4B9838A4}"/>
              </a:ext>
            </a:extLst>
          </p:cNvPr>
          <p:cNvSpPr txBox="1">
            <a:spLocks/>
          </p:cNvSpPr>
          <p:nvPr/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dirty="0"/>
              <a:t>PATH (3/4)</a:t>
            </a:r>
          </a:p>
        </p:txBody>
      </p:sp>
      <p:sp>
        <p:nvSpPr>
          <p:cNvPr id="7" name="Google Shape;142;p4">
            <a:extLst>
              <a:ext uri="{FF2B5EF4-FFF2-40B4-BE49-F238E27FC236}">
                <a16:creationId xmlns:a16="http://schemas.microsoft.com/office/drawing/2014/main" id="{8DD997E2-C5A1-D203-84A6-1A2C53564A96}"/>
              </a:ext>
            </a:extLst>
          </p:cNvPr>
          <p:cNvSpPr txBox="1"/>
          <p:nvPr/>
        </p:nvSpPr>
        <p:spPr>
          <a:xfrm>
            <a:off x="2379981" y="5387905"/>
            <a:ext cx="518699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add the following two lines on the bottom of the file</a:t>
            </a:r>
            <a:endParaRPr sz="1800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65AFED88-A575-393C-0B1A-5DC70315BE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13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58;p16">
            <a:extLst>
              <a:ext uri="{FF2B5EF4-FFF2-40B4-BE49-F238E27FC236}">
                <a16:creationId xmlns:a16="http://schemas.microsoft.com/office/drawing/2014/main" id="{5190849D-2D8A-7F96-7C2C-313A8878D3F9}"/>
              </a:ext>
            </a:extLst>
          </p:cNvPr>
          <p:cNvSpPr txBox="1">
            <a:spLocks/>
          </p:cNvSpPr>
          <p:nvPr/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432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289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17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spcBef>
                <a:spcPts val="480"/>
              </a:spcBef>
              <a:buSzPts val="1800"/>
            </a:pPr>
            <a:r>
              <a:rPr lang="en-US" sz="2400" dirty="0"/>
              <a:t>Add path in PATH permanently (Cont.)</a:t>
            </a:r>
          </a:p>
          <a:p>
            <a:pPr marL="742950" lvl="1" indent="-285750">
              <a:spcBef>
                <a:spcPts val="480"/>
              </a:spcBef>
              <a:buSzPts val="1920"/>
            </a:pPr>
            <a:r>
              <a:rPr lang="en-US" sz="2000" dirty="0"/>
              <a:t>Reboot the VM</a:t>
            </a:r>
          </a:p>
          <a:p>
            <a:pPr marL="742950" lvl="1" indent="-285750">
              <a:spcBef>
                <a:spcPts val="480"/>
              </a:spcBef>
              <a:buSzPts val="1920"/>
            </a:pPr>
            <a:endParaRPr lang="en-US" sz="2000" dirty="0"/>
          </a:p>
          <a:p>
            <a:pPr marL="742950" lvl="1" indent="-285750">
              <a:spcBef>
                <a:spcPts val="480"/>
              </a:spcBef>
              <a:buSzPts val="1920"/>
            </a:pPr>
            <a:r>
              <a:rPr lang="en-US" sz="2000" dirty="0"/>
              <a:t>echo $PATH</a:t>
            </a:r>
          </a:p>
        </p:txBody>
      </p:sp>
      <p:sp>
        <p:nvSpPr>
          <p:cNvPr id="238" name="Google Shape;238;p14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dk1"/>
                </a:solidFill>
              </a:rPr>
              <a:t>PATH (4/4)</a:t>
            </a:r>
            <a:endParaRPr sz="44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DFC9FB8-B86B-DE00-966B-80CBED707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451" y="2983680"/>
            <a:ext cx="7170217" cy="890640"/>
          </a:xfrm>
          <a:prstGeom prst="rect">
            <a:avLst/>
          </a:prstGeom>
        </p:spPr>
      </p:pic>
      <p:sp>
        <p:nvSpPr>
          <p:cNvPr id="9" name="Google Shape;225;p13">
            <a:extLst>
              <a:ext uri="{FF2B5EF4-FFF2-40B4-BE49-F238E27FC236}">
                <a16:creationId xmlns:a16="http://schemas.microsoft.com/office/drawing/2014/main" id="{98FEB666-D2BF-A31D-B003-1CF5B441DA7E}"/>
              </a:ext>
            </a:extLst>
          </p:cNvPr>
          <p:cNvSpPr/>
          <p:nvPr/>
        </p:nvSpPr>
        <p:spPr>
          <a:xfrm>
            <a:off x="5263197" y="3409951"/>
            <a:ext cx="2404428" cy="210146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1EBE3D5F-E470-3D8C-BA00-0B869AD150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14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Introduction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Unix Variables</a:t>
            </a:r>
            <a:endParaRPr sz="24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PATH</a:t>
            </a:r>
            <a:endParaRPr sz="20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Related Functions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rgbClr val="FF0000"/>
                </a:solidFill>
              </a:rPr>
              <a:t>fork() and wait()</a:t>
            </a:r>
            <a:endParaRPr sz="2000" dirty="0">
              <a:solidFill>
                <a:srgbClr val="FF0000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Exec </a:t>
            </a:r>
            <a:r>
              <a:rPr lang="en-US" altLang="zh-TW" sz="2000" dirty="0"/>
              <a:t>F</a:t>
            </a:r>
            <a:r>
              <a:rPr lang="en-US" sz="2000" dirty="0"/>
              <a:t>amily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Internal Command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External Command</a:t>
            </a:r>
            <a:endParaRPr sz="2000" dirty="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Background Execution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Output Redirection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Command </a:t>
            </a:r>
            <a:r>
              <a:rPr lang="en-US" altLang="zh-TW" sz="2400" dirty="0">
                <a:solidFill>
                  <a:schemeClr val="tx1"/>
                </a:solidFill>
              </a:rPr>
              <a:t>History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Exercise</a:t>
            </a:r>
            <a:endParaRPr sz="2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D009DE1F-5D53-F2CE-AADD-38466395CD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15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866257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fork() and wait() (1/5)</a:t>
            </a:r>
            <a:endParaRPr sz="4400" dirty="0"/>
          </a:p>
        </p:txBody>
      </p:sp>
      <p:sp>
        <p:nvSpPr>
          <p:cNvPr id="265" name="Google Shape;265;p17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0099FF"/>
                </a:solidFill>
              </a:rPr>
              <a:t>fork()</a:t>
            </a:r>
            <a:r>
              <a:rPr lang="en-US" sz="2400" dirty="0"/>
              <a:t> system call creates new process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0099FF"/>
                </a:solidFill>
              </a:rPr>
              <a:t>fork()</a:t>
            </a:r>
            <a:r>
              <a:rPr lang="en-US" sz="2400" dirty="0"/>
              <a:t> copies the parent's memory image so that the new process receives a copy of the address space of the parent.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Both processes continue at the instruction after the fork statement </a:t>
            </a:r>
            <a:r>
              <a:rPr lang="en-US" sz="2400" dirty="0">
                <a:solidFill>
                  <a:srgbClr val="FF0000"/>
                </a:solidFill>
              </a:rPr>
              <a:t>(executing in their respective memory images).</a:t>
            </a:r>
            <a:endParaRPr dirty="0"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sp>
        <p:nvSpPr>
          <p:cNvPr id="267" name="Google Shape;267;p17"/>
          <p:cNvSpPr txBox="1"/>
          <p:nvPr/>
        </p:nvSpPr>
        <p:spPr>
          <a:xfrm>
            <a:off x="899592" y="4058946"/>
            <a:ext cx="7467018" cy="4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#include &lt;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unistd.h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 txBox="1"/>
          <p:nvPr/>
        </p:nvSpPr>
        <p:spPr>
          <a:xfrm>
            <a:off x="899592" y="5100485"/>
            <a:ext cx="7467018" cy="4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pid_t fork(void);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245C7A7E-2F51-AD4C-32AE-CC9943A4F0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16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8"/>
          <p:cNvSpPr/>
          <p:nvPr/>
        </p:nvSpPr>
        <p:spPr>
          <a:xfrm>
            <a:off x="3419872" y="2605665"/>
            <a:ext cx="2592288" cy="864096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 memory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3419872" y="2605664"/>
            <a:ext cx="2592288" cy="864096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 of memory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3419872" y="1844824"/>
            <a:ext cx="2592288" cy="4752528"/>
          </a:xfrm>
          <a:prstGeom prst="rect">
            <a:avLst/>
          </a:prstGeom>
          <a:noFill/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8"/>
          <p:cNvSpPr txBox="1"/>
          <p:nvPr/>
        </p:nvSpPr>
        <p:spPr>
          <a:xfrm>
            <a:off x="1331640" y="2812286"/>
            <a:ext cx="16250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Parent process</a:t>
            </a:r>
            <a:endParaRPr sz="18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18"/>
          <p:cNvCxnSpPr>
            <a:cxnSpLocks/>
            <a:stCxn id="277" idx="3"/>
          </p:cNvCxnSpPr>
          <p:nvPr/>
        </p:nvCxnSpPr>
        <p:spPr>
          <a:xfrm>
            <a:off x="2956700" y="2996952"/>
            <a:ext cx="391164" cy="0"/>
          </a:xfrm>
          <a:prstGeom prst="straightConnector1">
            <a:avLst/>
          </a:prstGeom>
          <a:noFill/>
          <a:ln w="190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81" name="Google Shape;281;p18"/>
          <p:cNvSpPr txBox="1"/>
          <p:nvPr/>
        </p:nvSpPr>
        <p:spPr>
          <a:xfrm>
            <a:off x="6267042" y="2766119"/>
            <a:ext cx="86748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fork()</a:t>
            </a:r>
            <a:endParaRPr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" name="Google Shape;278;p18">
            <a:extLst>
              <a:ext uri="{FF2B5EF4-FFF2-40B4-BE49-F238E27FC236}">
                <a16:creationId xmlns:a16="http://schemas.microsoft.com/office/drawing/2014/main" id="{97DD1573-6472-C497-27CA-868BE679F411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956700" y="4733055"/>
            <a:ext cx="391164" cy="0"/>
          </a:xfrm>
          <a:prstGeom prst="straightConnector1">
            <a:avLst/>
          </a:prstGeom>
          <a:noFill/>
          <a:ln w="190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" name="Google Shape;277;p18">
            <a:extLst>
              <a:ext uri="{FF2B5EF4-FFF2-40B4-BE49-F238E27FC236}">
                <a16:creationId xmlns:a16="http://schemas.microsoft.com/office/drawing/2014/main" id="{B96B4518-475E-7DAC-97C5-86772A5E3042}"/>
              </a:ext>
            </a:extLst>
          </p:cNvPr>
          <p:cNvSpPr txBox="1"/>
          <p:nvPr/>
        </p:nvSpPr>
        <p:spPr>
          <a:xfrm>
            <a:off x="1331640" y="4548389"/>
            <a:ext cx="16250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Child</a:t>
            </a:r>
            <a:r>
              <a:rPr lang="en-US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process</a:t>
            </a:r>
            <a:endParaRPr sz="18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64;p17">
            <a:extLst>
              <a:ext uri="{FF2B5EF4-FFF2-40B4-BE49-F238E27FC236}">
                <a16:creationId xmlns:a16="http://schemas.microsoft.com/office/drawing/2014/main" id="{CC581AD5-D5FD-3F6B-8F15-3969570ABE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fork() and wait() (2/5)</a:t>
            </a:r>
            <a:endParaRPr sz="4400" dirty="0"/>
          </a:p>
        </p:txBody>
      </p:sp>
      <p:sp>
        <p:nvSpPr>
          <p:cNvPr id="5" name="Google Shape;636;p58">
            <a:extLst>
              <a:ext uri="{FF2B5EF4-FFF2-40B4-BE49-F238E27FC236}">
                <a16:creationId xmlns:a16="http://schemas.microsoft.com/office/drawing/2014/main" id="{CC3004CB-CF67-B9E6-0D46-5B9F520ADB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17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07407E-6 L -0.00018 0.2472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12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" grpId="0" animBg="1"/>
      <p:bldP spid="275" grpId="1" animBg="1"/>
      <p:bldP spid="281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9"/>
          <p:cNvSpPr/>
          <p:nvPr/>
        </p:nvSpPr>
        <p:spPr>
          <a:xfrm>
            <a:off x="3887924" y="1880828"/>
            <a:ext cx="1368152" cy="4320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process</a:t>
            </a:r>
            <a:endParaRPr sz="18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cxnSp>
        <p:nvCxnSpPr>
          <p:cNvPr id="289" name="Google Shape;289;p19"/>
          <p:cNvCxnSpPr>
            <a:cxnSpLocks/>
            <a:stCxn id="288" idx="2"/>
            <a:endCxn id="290" idx="0"/>
          </p:cNvCxnSpPr>
          <p:nvPr/>
        </p:nvCxnSpPr>
        <p:spPr>
          <a:xfrm>
            <a:off x="4572000" y="2312876"/>
            <a:ext cx="0" cy="651884"/>
          </a:xfrm>
          <a:prstGeom prst="straightConnector1">
            <a:avLst/>
          </a:prstGeom>
          <a:noFill/>
          <a:ln w="34925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90" name="Google Shape;290;p19"/>
          <p:cNvSpPr/>
          <p:nvPr/>
        </p:nvSpPr>
        <p:spPr>
          <a:xfrm>
            <a:off x="3887924" y="2964760"/>
            <a:ext cx="1368152" cy="4320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fork()</a:t>
            </a:r>
            <a:endParaRPr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94" name="Google Shape;294;p19"/>
          <p:cNvSpPr/>
          <p:nvPr/>
        </p:nvSpPr>
        <p:spPr>
          <a:xfrm>
            <a:off x="2206308" y="4636095"/>
            <a:ext cx="1656184" cy="936104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original</a:t>
            </a:r>
            <a:endParaRPr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process</a:t>
            </a:r>
            <a:endParaRPr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continues</a:t>
            </a:r>
            <a:endParaRPr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99" name="Google Shape;299;p19"/>
          <p:cNvSpPr/>
          <p:nvPr/>
        </p:nvSpPr>
        <p:spPr>
          <a:xfrm>
            <a:off x="5281510" y="4636095"/>
            <a:ext cx="1656184" cy="936104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new</a:t>
            </a:r>
            <a:endParaRPr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process</a:t>
            </a:r>
            <a:endParaRPr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cxnSp>
        <p:nvCxnSpPr>
          <p:cNvPr id="2" name="Google Shape;289;p19">
            <a:extLst>
              <a:ext uri="{FF2B5EF4-FFF2-40B4-BE49-F238E27FC236}">
                <a16:creationId xmlns:a16="http://schemas.microsoft.com/office/drawing/2014/main" id="{AC488A65-78E4-48D3-1397-E7B5C7546BB0}"/>
              </a:ext>
            </a:extLst>
          </p:cNvPr>
          <p:cNvCxnSpPr>
            <a:cxnSpLocks/>
            <a:endCxn id="294" idx="0"/>
          </p:cNvCxnSpPr>
          <p:nvPr/>
        </p:nvCxnSpPr>
        <p:spPr>
          <a:xfrm flipH="1">
            <a:off x="3034400" y="3396808"/>
            <a:ext cx="1294171" cy="1239287"/>
          </a:xfrm>
          <a:prstGeom prst="straightConnector1">
            <a:avLst/>
          </a:prstGeom>
          <a:noFill/>
          <a:ln w="34925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93" name="Google Shape;293;p19"/>
          <p:cNvSpPr txBox="1"/>
          <p:nvPr/>
        </p:nvSpPr>
        <p:spPr>
          <a:xfrm>
            <a:off x="2892998" y="3725547"/>
            <a:ext cx="1435573" cy="646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Return child's PID</a:t>
            </a:r>
            <a:endParaRPr sz="18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cxnSp>
        <p:nvCxnSpPr>
          <p:cNvPr id="4" name="Google Shape;289;p19">
            <a:extLst>
              <a:ext uri="{FF2B5EF4-FFF2-40B4-BE49-F238E27FC236}">
                <a16:creationId xmlns:a16="http://schemas.microsoft.com/office/drawing/2014/main" id="{0C957F29-6F71-3174-6954-374A95C7F4C7}"/>
              </a:ext>
            </a:extLst>
          </p:cNvPr>
          <p:cNvCxnSpPr>
            <a:cxnSpLocks/>
            <a:endCxn id="299" idx="0"/>
          </p:cNvCxnSpPr>
          <p:nvPr/>
        </p:nvCxnSpPr>
        <p:spPr>
          <a:xfrm>
            <a:off x="4815431" y="3396808"/>
            <a:ext cx="1294171" cy="1239287"/>
          </a:xfrm>
          <a:prstGeom prst="straightConnector1">
            <a:avLst/>
          </a:prstGeom>
          <a:noFill/>
          <a:ln w="34925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98" name="Google Shape;298;p19"/>
          <p:cNvSpPr txBox="1"/>
          <p:nvPr/>
        </p:nvSpPr>
        <p:spPr>
          <a:xfrm>
            <a:off x="5040078" y="3864026"/>
            <a:ext cx="1069524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Return 0</a:t>
            </a:r>
            <a:endParaRPr sz="18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9" name="Google Shape;264;p17">
            <a:extLst>
              <a:ext uri="{FF2B5EF4-FFF2-40B4-BE49-F238E27FC236}">
                <a16:creationId xmlns:a16="http://schemas.microsoft.com/office/drawing/2014/main" id="{AFB21DF7-1114-0EB6-BD46-3728E6BCCF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fork() and wait() (3/5)</a:t>
            </a:r>
            <a:endParaRPr sz="4400" dirty="0"/>
          </a:p>
        </p:txBody>
      </p:sp>
      <p:sp>
        <p:nvSpPr>
          <p:cNvPr id="5" name="Google Shape;636;p58">
            <a:extLst>
              <a:ext uri="{FF2B5EF4-FFF2-40B4-BE49-F238E27FC236}">
                <a16:creationId xmlns:a16="http://schemas.microsoft.com/office/drawing/2014/main" id="{699FA326-15AE-03D1-F0E3-968F655D6E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18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b="1" dirty="0"/>
              <a:t>The </a:t>
            </a:r>
            <a:r>
              <a:rPr lang="en-US" sz="2400" b="1" dirty="0">
                <a:solidFill>
                  <a:srgbClr val="0099FF"/>
                </a:solidFill>
              </a:rPr>
              <a:t>wait()</a:t>
            </a:r>
            <a:r>
              <a:rPr lang="en-US" sz="2400" b="1" dirty="0"/>
              <a:t> Function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The parent can execute </a:t>
            </a:r>
            <a:r>
              <a:rPr lang="en-US" sz="2400" b="1" dirty="0">
                <a:solidFill>
                  <a:srgbClr val="0099FF"/>
                </a:solidFill>
              </a:rPr>
              <a:t>wait()</a:t>
            </a:r>
            <a:r>
              <a:rPr lang="en-US" sz="2400" dirty="0"/>
              <a:t> to block until the child finishes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If </a:t>
            </a:r>
            <a:r>
              <a:rPr lang="en-US" sz="2400" b="1" dirty="0">
                <a:solidFill>
                  <a:srgbClr val="0099FF"/>
                </a:solidFill>
              </a:rPr>
              <a:t>wait()</a:t>
            </a:r>
            <a:r>
              <a:rPr lang="en-US" sz="2400" dirty="0"/>
              <a:t> returns because the status of a child is reported, it returns the process ID of that child.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Else if an error occurs, it returns –1.</a:t>
            </a:r>
            <a:endParaRPr dirty="0"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sp>
        <p:nvSpPr>
          <p:cNvPr id="308" name="Google Shape;308;p20"/>
          <p:cNvSpPr txBox="1"/>
          <p:nvPr/>
        </p:nvSpPr>
        <p:spPr>
          <a:xfrm>
            <a:off x="808965" y="3647487"/>
            <a:ext cx="7467018" cy="7920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#include &lt;sys/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wait.h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pid_t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wait(int *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stat_loc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dirty="0"/>
          </a:p>
        </p:txBody>
      </p:sp>
      <p:sp>
        <p:nvSpPr>
          <p:cNvPr id="309" name="Google Shape;309;p20"/>
          <p:cNvSpPr txBox="1"/>
          <p:nvPr/>
        </p:nvSpPr>
        <p:spPr>
          <a:xfrm>
            <a:off x="799776" y="4685187"/>
            <a:ext cx="7467018" cy="4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EX: wait(NULL);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64;p17">
            <a:extLst>
              <a:ext uri="{FF2B5EF4-FFF2-40B4-BE49-F238E27FC236}">
                <a16:creationId xmlns:a16="http://schemas.microsoft.com/office/drawing/2014/main" id="{F2A81F89-DB58-8E31-1238-D126A0057E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fork() and wait() (4/5)</a:t>
            </a:r>
            <a:endParaRPr sz="4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ED521F11-E8E7-211F-BD70-471499DC1E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19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1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fork()-wait() example</a:t>
            </a:r>
            <a:endParaRPr sz="2400" dirty="0"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sp>
        <p:nvSpPr>
          <p:cNvPr id="4" name="Google Shape;264;p17">
            <a:extLst>
              <a:ext uri="{FF2B5EF4-FFF2-40B4-BE49-F238E27FC236}">
                <a16:creationId xmlns:a16="http://schemas.microsoft.com/office/drawing/2014/main" id="{42947469-72A2-E8C3-2581-36C341803D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fork() and wait() (5/5)</a:t>
            </a:r>
            <a:endParaRPr sz="44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47D481E-9CA3-EE30-D68B-343E4DEEC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469" y="1703414"/>
            <a:ext cx="6535062" cy="4858428"/>
          </a:xfrm>
          <a:prstGeom prst="rect">
            <a:avLst/>
          </a:prstGeom>
        </p:spPr>
      </p:pic>
      <p:sp>
        <p:nvSpPr>
          <p:cNvPr id="7" name="Google Shape;326;p22">
            <a:extLst>
              <a:ext uri="{FF2B5EF4-FFF2-40B4-BE49-F238E27FC236}">
                <a16:creationId xmlns:a16="http://schemas.microsoft.com/office/drawing/2014/main" id="{01EEA7D5-4F23-513D-605D-84F121872A82}"/>
              </a:ext>
            </a:extLst>
          </p:cNvPr>
          <p:cNvSpPr/>
          <p:nvPr/>
        </p:nvSpPr>
        <p:spPr>
          <a:xfrm>
            <a:off x="1304469" y="5995446"/>
            <a:ext cx="2862178" cy="35911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326;p22">
            <a:extLst>
              <a:ext uri="{FF2B5EF4-FFF2-40B4-BE49-F238E27FC236}">
                <a16:creationId xmlns:a16="http://schemas.microsoft.com/office/drawing/2014/main" id="{15B0353A-7CB6-CC80-1902-8D2672C1B34B}"/>
              </a:ext>
            </a:extLst>
          </p:cNvPr>
          <p:cNvSpPr/>
          <p:nvPr/>
        </p:nvSpPr>
        <p:spPr>
          <a:xfrm>
            <a:off x="1965916" y="4096491"/>
            <a:ext cx="1012954" cy="202132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D3209BD0-0D01-46B9-481B-313C0ADC08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20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Introduction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Unix Variables</a:t>
            </a:r>
            <a:endParaRPr sz="24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PATH</a:t>
            </a:r>
            <a:endParaRPr sz="20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Related Functions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fork() and wait()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rgbClr val="FF0000"/>
                </a:solidFill>
              </a:rPr>
              <a:t>Exec </a:t>
            </a:r>
            <a:r>
              <a:rPr lang="en-US" altLang="zh-TW" sz="2000" dirty="0">
                <a:solidFill>
                  <a:srgbClr val="FF0000"/>
                </a:solidFill>
              </a:rPr>
              <a:t>F</a:t>
            </a:r>
            <a:r>
              <a:rPr lang="en-US" sz="2000" dirty="0">
                <a:solidFill>
                  <a:srgbClr val="FF0000"/>
                </a:solidFill>
              </a:rPr>
              <a:t>amily</a:t>
            </a:r>
            <a:endParaRPr sz="2000" dirty="0">
              <a:solidFill>
                <a:srgbClr val="FF0000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Internal Command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External Command</a:t>
            </a:r>
            <a:endParaRPr sz="2000" dirty="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Background Execution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Output Redirection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Command </a:t>
            </a:r>
            <a:r>
              <a:rPr lang="en-US" altLang="zh-TW" sz="2400" dirty="0">
                <a:solidFill>
                  <a:schemeClr val="tx1"/>
                </a:solidFill>
              </a:rPr>
              <a:t>History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Exercise</a:t>
            </a:r>
            <a:endParaRPr sz="2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4627162D-4E98-CDA1-9FB4-999C8D663DB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21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211916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4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latin typeface="Calibri"/>
                <a:ea typeface="Calibri"/>
                <a:cs typeface="Calibri"/>
                <a:sym typeface="Calibri"/>
              </a:rPr>
              <a:t>Exec Family (1/4)</a:t>
            </a:r>
            <a:endParaRPr sz="4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4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0099FF"/>
                </a:solidFill>
              </a:rPr>
              <a:t>fork()</a:t>
            </a:r>
            <a:r>
              <a:rPr lang="en-US" sz="2400" dirty="0"/>
              <a:t> function creates a copy of the calling process, but many applications require the child process to execute code that is different from that of the parent.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0099FF"/>
                </a:solidFill>
              </a:rPr>
              <a:t>exec()</a:t>
            </a:r>
            <a:r>
              <a:rPr lang="en-US" sz="2400" dirty="0"/>
              <a:t> family provides a facility for overlaying the process image of the calling process with a new image.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Use the </a:t>
            </a:r>
            <a:r>
              <a:rPr lang="en-US" sz="2400" b="1" dirty="0">
                <a:solidFill>
                  <a:srgbClr val="0099FF"/>
                </a:solidFill>
              </a:rPr>
              <a:t>fork()–exec()</a:t>
            </a:r>
            <a:r>
              <a:rPr lang="en-US" sz="2400" dirty="0"/>
              <a:t> combination for the child to execute the new program while the parent continues to execute the original code.</a:t>
            </a:r>
            <a:endParaRPr sz="2400" dirty="0"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968619A5-D6DA-71FE-D681-9BC0A3DE91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22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5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Exec Family (2/4)</a:t>
            </a:r>
            <a:endParaRPr sz="4400" dirty="0"/>
          </a:p>
        </p:txBody>
      </p:sp>
      <p:sp>
        <p:nvSpPr>
          <p:cNvPr id="2" name="Google Shape;276;p18">
            <a:extLst>
              <a:ext uri="{FF2B5EF4-FFF2-40B4-BE49-F238E27FC236}">
                <a16:creationId xmlns:a16="http://schemas.microsoft.com/office/drawing/2014/main" id="{C6A21396-2B9E-7033-A521-C64AB88DF689}"/>
              </a:ext>
            </a:extLst>
          </p:cNvPr>
          <p:cNvSpPr/>
          <p:nvPr/>
        </p:nvSpPr>
        <p:spPr>
          <a:xfrm>
            <a:off x="3419872" y="2605665"/>
            <a:ext cx="2592288" cy="864096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 memory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75;p18">
            <a:extLst>
              <a:ext uri="{FF2B5EF4-FFF2-40B4-BE49-F238E27FC236}">
                <a16:creationId xmlns:a16="http://schemas.microsoft.com/office/drawing/2014/main" id="{2BA76F55-E95F-A38F-77ED-C745018C5678}"/>
              </a:ext>
            </a:extLst>
          </p:cNvPr>
          <p:cNvSpPr/>
          <p:nvPr/>
        </p:nvSpPr>
        <p:spPr>
          <a:xfrm>
            <a:off x="3419872" y="2605664"/>
            <a:ext cx="2592288" cy="864096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 of memory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74;p18">
            <a:extLst>
              <a:ext uri="{FF2B5EF4-FFF2-40B4-BE49-F238E27FC236}">
                <a16:creationId xmlns:a16="http://schemas.microsoft.com/office/drawing/2014/main" id="{146C5F88-12AD-C779-1050-3E6F2531CB70}"/>
              </a:ext>
            </a:extLst>
          </p:cNvPr>
          <p:cNvSpPr/>
          <p:nvPr/>
        </p:nvSpPr>
        <p:spPr>
          <a:xfrm>
            <a:off x="3419872" y="1844824"/>
            <a:ext cx="2592288" cy="4752528"/>
          </a:xfrm>
          <a:prstGeom prst="rect">
            <a:avLst/>
          </a:prstGeom>
          <a:noFill/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77;p18">
            <a:extLst>
              <a:ext uri="{FF2B5EF4-FFF2-40B4-BE49-F238E27FC236}">
                <a16:creationId xmlns:a16="http://schemas.microsoft.com/office/drawing/2014/main" id="{BC96F01C-3859-2856-2FD1-A3549BCC6391}"/>
              </a:ext>
            </a:extLst>
          </p:cNvPr>
          <p:cNvSpPr txBox="1"/>
          <p:nvPr/>
        </p:nvSpPr>
        <p:spPr>
          <a:xfrm>
            <a:off x="1331640" y="2812286"/>
            <a:ext cx="16250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Parent process</a:t>
            </a:r>
            <a:endParaRPr sz="18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" name="Google Shape;278;p18">
            <a:extLst>
              <a:ext uri="{FF2B5EF4-FFF2-40B4-BE49-F238E27FC236}">
                <a16:creationId xmlns:a16="http://schemas.microsoft.com/office/drawing/2014/main" id="{822B4CA9-4AE7-637C-D595-9510599D8EBC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956700" y="2996952"/>
            <a:ext cx="391164" cy="0"/>
          </a:xfrm>
          <a:prstGeom prst="straightConnector1">
            <a:avLst/>
          </a:prstGeom>
          <a:noFill/>
          <a:ln w="190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" name="Google Shape;281;p18">
            <a:extLst>
              <a:ext uri="{FF2B5EF4-FFF2-40B4-BE49-F238E27FC236}">
                <a16:creationId xmlns:a16="http://schemas.microsoft.com/office/drawing/2014/main" id="{208FDAC3-C05C-21D6-1278-D8369FBBF43E}"/>
              </a:ext>
            </a:extLst>
          </p:cNvPr>
          <p:cNvSpPr txBox="1"/>
          <p:nvPr/>
        </p:nvSpPr>
        <p:spPr>
          <a:xfrm>
            <a:off x="6267042" y="2766119"/>
            <a:ext cx="94446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fork()</a:t>
            </a:r>
            <a:endParaRPr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Google Shape;278;p18">
            <a:extLst>
              <a:ext uri="{FF2B5EF4-FFF2-40B4-BE49-F238E27FC236}">
                <a16:creationId xmlns:a16="http://schemas.microsoft.com/office/drawing/2014/main" id="{77E8CA9F-273C-E815-CE0F-8F24FF64A04E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956700" y="4733055"/>
            <a:ext cx="391164" cy="0"/>
          </a:xfrm>
          <a:prstGeom prst="straightConnector1">
            <a:avLst/>
          </a:prstGeom>
          <a:noFill/>
          <a:ln w="190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9" name="Google Shape;277;p18">
            <a:extLst>
              <a:ext uri="{FF2B5EF4-FFF2-40B4-BE49-F238E27FC236}">
                <a16:creationId xmlns:a16="http://schemas.microsoft.com/office/drawing/2014/main" id="{DB8B4F83-01FA-9F3F-18AE-C03A113CD0DC}"/>
              </a:ext>
            </a:extLst>
          </p:cNvPr>
          <p:cNvSpPr txBox="1"/>
          <p:nvPr/>
        </p:nvSpPr>
        <p:spPr>
          <a:xfrm>
            <a:off x="1331640" y="4548389"/>
            <a:ext cx="16250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Child</a:t>
            </a:r>
            <a:r>
              <a:rPr lang="en-US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process</a:t>
            </a:r>
            <a:endParaRPr sz="18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81;p18">
            <a:extLst>
              <a:ext uri="{FF2B5EF4-FFF2-40B4-BE49-F238E27FC236}">
                <a16:creationId xmlns:a16="http://schemas.microsoft.com/office/drawing/2014/main" id="{F503678F-8AD1-78E2-C939-65EBCDF11D64}"/>
              </a:ext>
            </a:extLst>
          </p:cNvPr>
          <p:cNvSpPr txBox="1"/>
          <p:nvPr/>
        </p:nvSpPr>
        <p:spPr>
          <a:xfrm>
            <a:off x="6267041" y="4502222"/>
            <a:ext cx="944463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exec()</a:t>
            </a:r>
            <a:endParaRPr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75;p18">
            <a:extLst>
              <a:ext uri="{FF2B5EF4-FFF2-40B4-BE49-F238E27FC236}">
                <a16:creationId xmlns:a16="http://schemas.microsoft.com/office/drawing/2014/main" id="{96000C2D-A054-6254-0DDE-996070666A91}"/>
              </a:ext>
            </a:extLst>
          </p:cNvPr>
          <p:cNvSpPr/>
          <p:nvPr/>
        </p:nvSpPr>
        <p:spPr>
          <a:xfrm>
            <a:off x="3419872" y="4300986"/>
            <a:ext cx="2592288" cy="864096"/>
          </a:xfrm>
          <a:prstGeom prst="rect">
            <a:avLst/>
          </a:prstGeom>
          <a:solidFill>
            <a:srgbClr val="00B0F0"/>
          </a:solidFill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Another memory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636;p58">
            <a:extLst>
              <a:ext uri="{FF2B5EF4-FFF2-40B4-BE49-F238E27FC236}">
                <a16:creationId xmlns:a16="http://schemas.microsoft.com/office/drawing/2014/main" id="{27BC93F8-56D2-BC26-E64B-4DFB6CF188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23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07407E-6 L -0.00018 0.2472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12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7" grpId="0"/>
      <p:bldP spid="9" grpId="0"/>
      <p:bldP spid="10" grpId="0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6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Exec Family (3/4)</a:t>
            </a:r>
            <a:endParaRPr sz="4400" dirty="0"/>
          </a:p>
        </p:txBody>
      </p:sp>
      <p:sp>
        <p:nvSpPr>
          <p:cNvPr id="363" name="Google Shape;363;p26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b="1" dirty="0"/>
              <a:t>The </a:t>
            </a:r>
            <a:r>
              <a:rPr lang="en-US" sz="2400" b="1" dirty="0">
                <a:solidFill>
                  <a:srgbClr val="0099FF"/>
                </a:solidFill>
              </a:rPr>
              <a:t>exec()</a:t>
            </a:r>
            <a:r>
              <a:rPr lang="en-US" sz="2400" b="1" dirty="0"/>
              <a:t> Family (cont.)</a:t>
            </a:r>
            <a:endParaRPr dirty="0"/>
          </a:p>
          <a:p>
            <a:pPr marL="274320" lvl="1" indent="-274320" algn="l" rtl="0"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280"/>
              <a:buChar char="◻"/>
            </a:pPr>
            <a:r>
              <a:rPr lang="en-US" sz="2400" dirty="0"/>
              <a:t>passes the command-line arguments in an explicit list and are useful if you know the number of command-line arguments at compile time.</a:t>
            </a:r>
            <a:endParaRPr dirty="0"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sp>
        <p:nvSpPr>
          <p:cNvPr id="365" name="Google Shape;365;p26"/>
          <p:cNvSpPr txBox="1"/>
          <p:nvPr/>
        </p:nvSpPr>
        <p:spPr>
          <a:xfrm>
            <a:off x="683568" y="3194850"/>
            <a:ext cx="7837966" cy="102623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#include &lt;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unistd.h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dirty="0"/>
          </a:p>
          <a:p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execlp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(const char *filename,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const char *arg0, … /*(char *)NULL*/);</a:t>
            </a:r>
            <a:endParaRPr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83B72BE3-B106-7DDA-110E-EB38273904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24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7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Exec Family (4/4)</a:t>
            </a:r>
            <a:endParaRPr sz="4400" dirty="0"/>
          </a:p>
        </p:txBody>
      </p:sp>
      <p:sp>
        <p:nvSpPr>
          <p:cNvPr id="371" name="Google Shape;371;p27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/>
              <a:t>Execlp() execute program defined by yourself</a:t>
            </a:r>
            <a:endParaRPr sz="2400"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5B34C0F-D2F3-D9DC-7FF2-7DD3D151C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066" y="1809476"/>
            <a:ext cx="6873867" cy="4438924"/>
          </a:xfrm>
          <a:prstGeom prst="rect">
            <a:avLst/>
          </a:prstGeom>
        </p:spPr>
      </p:pic>
      <p:sp>
        <p:nvSpPr>
          <p:cNvPr id="4" name="Google Shape;636;p58">
            <a:extLst>
              <a:ext uri="{FF2B5EF4-FFF2-40B4-BE49-F238E27FC236}">
                <a16:creationId xmlns:a16="http://schemas.microsoft.com/office/drawing/2014/main" id="{CE39C489-9253-8D05-BF9C-777CBB17BF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25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Introduction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Unix Variables</a:t>
            </a:r>
            <a:endParaRPr sz="24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PATH</a:t>
            </a:r>
            <a:endParaRPr sz="20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Related Functions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fork() and wait()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Exec Family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rgbClr val="FF0000"/>
                </a:solidFill>
              </a:rPr>
              <a:t>Internal Command</a:t>
            </a:r>
            <a:endParaRPr sz="2000" dirty="0">
              <a:solidFill>
                <a:srgbClr val="FF0000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External Command</a:t>
            </a:r>
            <a:endParaRPr sz="2000" dirty="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Background Execution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Output Redirection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Command </a:t>
            </a:r>
            <a:r>
              <a:rPr lang="en-US" altLang="zh-TW" sz="2400" dirty="0">
                <a:solidFill>
                  <a:schemeClr val="tx1"/>
                </a:solidFill>
              </a:rPr>
              <a:t>History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Exercise</a:t>
            </a:r>
            <a:endParaRPr sz="2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57620A30-5279-F101-2A0E-41098B7CEC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26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6496622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0"/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400" dirty="0" err="1"/>
              <a:t>執行內建</a:t>
            </a:r>
            <a:r>
              <a:rPr lang="zh-TW" altLang="en-US" sz="2400" dirty="0"/>
              <a:t> </a:t>
            </a:r>
            <a:r>
              <a:rPr lang="en-US" sz="2400" dirty="0"/>
              <a:t>command</a:t>
            </a:r>
            <a:r>
              <a:rPr lang="zh-TW" altLang="en-US" sz="2400" dirty="0"/>
              <a:t> </a:t>
            </a:r>
            <a:r>
              <a:rPr lang="en-US" sz="2400" dirty="0" err="1"/>
              <a:t>時不得使用</a:t>
            </a:r>
            <a:r>
              <a:rPr lang="zh-TW" altLang="en-US" sz="2400" dirty="0"/>
              <a:t> </a:t>
            </a:r>
            <a:r>
              <a:rPr lang="en-US" sz="2400" dirty="0"/>
              <a:t>fork-exec</a:t>
            </a:r>
            <a:r>
              <a:rPr lang="zh-TW" altLang="en-US" sz="2400" dirty="0"/>
              <a:t> </a:t>
            </a:r>
            <a:r>
              <a:rPr lang="en-US" sz="2400" dirty="0" err="1"/>
              <a:t>函式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rgbClr val="FF0000"/>
                </a:solidFill>
              </a:rPr>
              <a:t>cd: </a:t>
            </a:r>
            <a:r>
              <a:rPr lang="en-US" sz="2000" dirty="0"/>
              <a:t>change the current working directory 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b="1" dirty="0" err="1"/>
              <a:t>chdir</a:t>
            </a:r>
            <a:r>
              <a:rPr lang="en-US" sz="2000" dirty="0"/>
              <a:t>() changes the current working directory of the calling process to the directory specified in </a:t>
            </a:r>
            <a:r>
              <a:rPr lang="en-US" sz="2000" i="1" dirty="0"/>
              <a:t>path</a:t>
            </a:r>
            <a:r>
              <a:rPr lang="en-US" sz="2000" dirty="0"/>
              <a:t>.</a:t>
            </a:r>
            <a:endParaRPr sz="2000" dirty="0"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sp>
        <p:nvSpPr>
          <p:cNvPr id="397" name="Google Shape;397;p30"/>
          <p:cNvSpPr txBox="1"/>
          <p:nvPr/>
        </p:nvSpPr>
        <p:spPr>
          <a:xfrm>
            <a:off x="1043608" y="3091630"/>
            <a:ext cx="7467018" cy="76941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#include &lt;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unistd.h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chdir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(const char *path);</a:t>
            </a:r>
            <a:endParaRPr dirty="0"/>
          </a:p>
        </p:txBody>
      </p:sp>
      <p:sp>
        <p:nvSpPr>
          <p:cNvPr id="398" name="Google Shape;398;p30"/>
          <p:cNvSpPr txBox="1"/>
          <p:nvPr/>
        </p:nvSpPr>
        <p:spPr>
          <a:xfrm>
            <a:off x="1043608" y="4161947"/>
            <a:ext cx="7467018" cy="4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EX: chdir(“/home”);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370;p27">
            <a:extLst>
              <a:ext uri="{FF2B5EF4-FFF2-40B4-BE49-F238E27FC236}">
                <a16:creationId xmlns:a16="http://schemas.microsoft.com/office/drawing/2014/main" id="{A6E0910B-3CEB-B3A4-1FA9-DE13D0DFB9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Internal Command (1/5)</a:t>
            </a:r>
            <a:endParaRPr sz="4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FD01BD0B-B201-B0A8-CF0F-B330CEB536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27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1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Internal </a:t>
            </a:r>
            <a:r>
              <a:rPr lang="en-US" altLang="zh-TW" sz="4400" dirty="0"/>
              <a:t>C</a:t>
            </a:r>
            <a:r>
              <a:rPr lang="en-US" sz="4400" dirty="0"/>
              <a:t>ommand</a:t>
            </a:r>
            <a:r>
              <a:rPr lang="zh-TW" altLang="en-US" sz="4400" dirty="0"/>
              <a:t> </a:t>
            </a:r>
            <a:r>
              <a:rPr lang="en-US" sz="4400" dirty="0"/>
              <a:t>(2/5)</a:t>
            </a:r>
            <a:endParaRPr sz="4400" dirty="0"/>
          </a:p>
        </p:txBody>
      </p:sp>
      <p:sp>
        <p:nvSpPr>
          <p:cNvPr id="404" name="Google Shape;404;p31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rgbClr val="FF0000"/>
                </a:solidFill>
              </a:rPr>
              <a:t>pwd:</a:t>
            </a:r>
            <a:r>
              <a:rPr lang="en-US" sz="2400" dirty="0"/>
              <a:t> to know the current working directory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The </a:t>
            </a:r>
            <a:r>
              <a:rPr lang="en-US" sz="2400" b="1" dirty="0" err="1"/>
              <a:t>getcwd</a:t>
            </a:r>
            <a:r>
              <a:rPr lang="en-US" sz="2400" dirty="0"/>
              <a:t>() function copies an absolute pathname of the current working directory to the array pointed to by </a:t>
            </a:r>
            <a:r>
              <a:rPr lang="en-US" sz="2400" i="1" dirty="0" err="1"/>
              <a:t>buf</a:t>
            </a:r>
            <a:r>
              <a:rPr lang="en-US" sz="2400" dirty="0"/>
              <a:t>, which is of length </a:t>
            </a:r>
            <a:r>
              <a:rPr lang="en-US" sz="2400" i="1" dirty="0"/>
              <a:t>size</a:t>
            </a:r>
            <a:r>
              <a:rPr lang="en-US" sz="2400" dirty="0"/>
              <a:t>.</a:t>
            </a:r>
            <a:endParaRPr sz="2400" dirty="0"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sp>
        <p:nvSpPr>
          <p:cNvPr id="406" name="Google Shape;406;p31"/>
          <p:cNvSpPr txBox="1"/>
          <p:nvPr/>
        </p:nvSpPr>
        <p:spPr>
          <a:xfrm>
            <a:off x="827584" y="3614271"/>
            <a:ext cx="7467018" cy="4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#include &lt;unistd.h&gt;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1"/>
          <p:cNvSpPr txBox="1"/>
          <p:nvPr/>
        </p:nvSpPr>
        <p:spPr>
          <a:xfrm>
            <a:off x="827584" y="4509120"/>
            <a:ext cx="7467018" cy="4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char *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getcwd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(char *</a:t>
            </a:r>
            <a:r>
              <a:rPr lang="en-US" sz="2000" b="0" i="1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buf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size_t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D7F9A30C-05B3-12BB-29CA-CB2A594CD7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28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4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Internal </a:t>
            </a:r>
            <a:r>
              <a:rPr lang="en-US" altLang="zh-TW" sz="4400" dirty="0"/>
              <a:t>C</a:t>
            </a:r>
            <a:r>
              <a:rPr lang="en-US" sz="4400" dirty="0"/>
              <a:t>ommand</a:t>
            </a:r>
            <a:r>
              <a:rPr lang="zh-TW" altLang="en-US" sz="4400" dirty="0"/>
              <a:t> </a:t>
            </a:r>
            <a:r>
              <a:rPr lang="en-US" sz="4400" dirty="0"/>
              <a:t>(</a:t>
            </a:r>
            <a:r>
              <a:rPr lang="en-US" altLang="zh-TW" sz="4400" dirty="0"/>
              <a:t>3</a:t>
            </a:r>
            <a:r>
              <a:rPr lang="en-US" sz="4400" dirty="0"/>
              <a:t>/5)</a:t>
            </a:r>
            <a:endParaRPr sz="4400" dirty="0"/>
          </a:p>
        </p:txBody>
      </p:sp>
      <p:sp>
        <p:nvSpPr>
          <p:cNvPr id="429" name="Google Shape;429;p34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Export </a:t>
            </a:r>
            <a:r>
              <a:rPr lang="en-US" sz="2400" dirty="0" err="1"/>
              <a:t>命令用來設置環境變</a:t>
            </a:r>
            <a:r>
              <a:rPr lang="zh-TW" altLang="en-US" sz="2400" dirty="0"/>
              <a:t>數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The </a:t>
            </a:r>
            <a:r>
              <a:rPr lang="en-US" sz="2400" b="1" dirty="0" err="1"/>
              <a:t>getenv</a:t>
            </a:r>
            <a:r>
              <a:rPr lang="en-US" sz="2400" dirty="0"/>
              <a:t>() function searches the environment list to find the environment variable </a:t>
            </a:r>
            <a:r>
              <a:rPr lang="en-US" sz="2400" i="1" dirty="0"/>
              <a:t>name</a:t>
            </a:r>
            <a:r>
              <a:rPr lang="en-US" sz="2400" dirty="0"/>
              <a:t>, and returns a pointer to the corresponding </a:t>
            </a:r>
            <a:r>
              <a:rPr lang="en-US" sz="2400" i="1" dirty="0"/>
              <a:t>value</a:t>
            </a:r>
            <a:r>
              <a:rPr lang="en-US" sz="2400" dirty="0"/>
              <a:t> string.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sp>
        <p:nvSpPr>
          <p:cNvPr id="431" name="Google Shape;431;p34"/>
          <p:cNvSpPr txBox="1"/>
          <p:nvPr/>
        </p:nvSpPr>
        <p:spPr>
          <a:xfrm>
            <a:off x="899592" y="3501008"/>
            <a:ext cx="7467018" cy="4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#include &lt;stdlib.h&gt;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4"/>
          <p:cNvSpPr txBox="1"/>
          <p:nvPr/>
        </p:nvSpPr>
        <p:spPr>
          <a:xfrm>
            <a:off x="899592" y="4274970"/>
            <a:ext cx="7467018" cy="4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char *getenv(const char *name);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EA5B2B7A-58DE-94E1-4943-B4E23DE731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29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5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Internal </a:t>
            </a:r>
            <a:r>
              <a:rPr lang="en-US" altLang="zh-TW" sz="4400" dirty="0"/>
              <a:t>C</a:t>
            </a:r>
            <a:r>
              <a:rPr lang="en-US" sz="4400" dirty="0"/>
              <a:t>ommand</a:t>
            </a:r>
            <a:r>
              <a:rPr lang="zh-TW" altLang="en-US" sz="4400" dirty="0"/>
              <a:t> </a:t>
            </a:r>
            <a:r>
              <a:rPr lang="en-US" sz="4400" dirty="0"/>
              <a:t>(4/5)</a:t>
            </a:r>
            <a:endParaRPr sz="4400" dirty="0"/>
          </a:p>
        </p:txBody>
      </p:sp>
      <p:sp>
        <p:nvSpPr>
          <p:cNvPr id="438" name="Google Shape;438;p35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The </a:t>
            </a:r>
            <a:r>
              <a:rPr lang="en-US" sz="2400" b="1" dirty="0" err="1"/>
              <a:t>setenv</a:t>
            </a:r>
            <a:r>
              <a:rPr lang="en-US" sz="2400" dirty="0"/>
              <a:t>() function adds the variable </a:t>
            </a:r>
            <a:r>
              <a:rPr lang="en-US" sz="2400" i="1" dirty="0"/>
              <a:t>name</a:t>
            </a:r>
            <a:r>
              <a:rPr lang="en-US" sz="2400" dirty="0"/>
              <a:t> to the environment with the value </a:t>
            </a:r>
            <a:r>
              <a:rPr lang="en-US" sz="2400" i="1" dirty="0" err="1"/>
              <a:t>value</a:t>
            </a:r>
            <a:r>
              <a:rPr lang="en-US" sz="2400" dirty="0"/>
              <a:t>, if </a:t>
            </a:r>
            <a:r>
              <a:rPr lang="en-US" sz="2400" i="1" dirty="0"/>
              <a:t>name</a:t>
            </a:r>
            <a:r>
              <a:rPr lang="en-US" sz="2400" dirty="0"/>
              <a:t> does not already exist.</a:t>
            </a:r>
            <a:endParaRPr sz="2400" dirty="0"/>
          </a:p>
        </p:txBody>
      </p:sp>
      <p:sp>
        <p:nvSpPr>
          <p:cNvPr id="440" name="Google Shape;440;p35"/>
          <p:cNvSpPr txBox="1"/>
          <p:nvPr/>
        </p:nvSpPr>
        <p:spPr>
          <a:xfrm>
            <a:off x="1043608" y="3032708"/>
            <a:ext cx="7467018" cy="4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#include &lt;stdlib.h&gt;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5"/>
          <p:cNvSpPr txBox="1"/>
          <p:nvPr/>
        </p:nvSpPr>
        <p:spPr>
          <a:xfrm>
            <a:off x="1043608" y="3785865"/>
            <a:ext cx="7467018" cy="4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setenv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(const char *</a:t>
            </a: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const char *</a:t>
            </a: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int </a:t>
            </a: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overwrite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90DC3642-2DB6-C49F-257A-9E215DDE7B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30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6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Internal Command (5/5)</a:t>
            </a:r>
            <a:endParaRPr sz="4400" dirty="0"/>
          </a:p>
        </p:txBody>
      </p:sp>
      <p:sp>
        <p:nvSpPr>
          <p:cNvPr id="447" name="Google Shape;447;p36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/>
              <a:t>Example</a:t>
            </a:r>
            <a:endParaRPr sz="240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814A420-F848-65D8-7B7B-E83C0F80B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09" y="1801813"/>
            <a:ext cx="7425981" cy="4598987"/>
          </a:xfrm>
          <a:prstGeom prst="rect">
            <a:avLst/>
          </a:prstGeom>
        </p:spPr>
      </p:pic>
      <p:sp>
        <p:nvSpPr>
          <p:cNvPr id="4" name="Google Shape;636;p58">
            <a:extLst>
              <a:ext uri="{FF2B5EF4-FFF2-40B4-BE49-F238E27FC236}">
                <a16:creationId xmlns:a16="http://schemas.microsoft.com/office/drawing/2014/main" id="{77276814-1330-3189-1862-147A65BC91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31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Introduction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Unix Variables</a:t>
            </a:r>
            <a:endParaRPr sz="24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PATH</a:t>
            </a:r>
            <a:endParaRPr sz="20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Related Functions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fork() and wait()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Exec Family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Internal Command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rgbClr val="FF0000"/>
                </a:solidFill>
              </a:rPr>
              <a:t>External Command</a:t>
            </a:r>
            <a:endParaRPr sz="2000" dirty="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Background Execution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Output Redirection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Command </a:t>
            </a:r>
            <a:r>
              <a:rPr lang="en-US" altLang="zh-TW" sz="2400" dirty="0">
                <a:solidFill>
                  <a:schemeClr val="tx1"/>
                </a:solidFill>
              </a:rPr>
              <a:t>History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Exercise</a:t>
            </a:r>
            <a:endParaRPr sz="2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694978B9-0FA7-D37F-BAE5-317582453F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32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8455727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9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External Command (1/2)</a:t>
            </a:r>
            <a:endParaRPr sz="4400" dirty="0"/>
          </a:p>
        </p:txBody>
      </p:sp>
      <p:sp>
        <p:nvSpPr>
          <p:cNvPr id="470" name="Google Shape;470;p39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 err="1"/>
              <a:t>執行External</a:t>
            </a:r>
            <a:r>
              <a:rPr lang="en-US" sz="2400" dirty="0"/>
              <a:t> </a:t>
            </a:r>
            <a:r>
              <a:rPr lang="en-US" sz="2400" dirty="0" err="1"/>
              <a:t>commands：fork</a:t>
            </a:r>
            <a:r>
              <a:rPr lang="en-US" sz="2400" dirty="0"/>
              <a:t> child </a:t>
            </a:r>
            <a:r>
              <a:rPr lang="en-US" sz="2400" dirty="0" err="1"/>
              <a:t>process後，再用exec-like函數執行外部command</a:t>
            </a:r>
            <a:endParaRPr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B03584C-D69D-214E-0B38-A5577C21B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074" y="2235925"/>
            <a:ext cx="7369852" cy="4012475"/>
          </a:xfrm>
          <a:prstGeom prst="rect">
            <a:avLst/>
          </a:prstGeom>
        </p:spPr>
      </p:pic>
      <p:sp>
        <p:nvSpPr>
          <p:cNvPr id="4" name="Google Shape;636;p58">
            <a:extLst>
              <a:ext uri="{FF2B5EF4-FFF2-40B4-BE49-F238E27FC236}">
                <a16:creationId xmlns:a16="http://schemas.microsoft.com/office/drawing/2014/main" id="{2A23D9EF-598F-392B-990A-D8A60335D5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33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0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External Command (2/2)</a:t>
            </a:r>
            <a:endParaRPr sz="4400" dirty="0"/>
          </a:p>
        </p:txBody>
      </p:sp>
      <p:sp>
        <p:nvSpPr>
          <p:cNvPr id="478" name="Google Shape;478;p40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Result (something is missing :P)</a:t>
            </a:r>
            <a:endParaRPr sz="24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7E2B86D-F94E-F79E-248A-CF9E7CFB7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79" y="1957155"/>
            <a:ext cx="7226242" cy="4100745"/>
          </a:xfrm>
          <a:prstGeom prst="rect">
            <a:avLst/>
          </a:prstGeom>
        </p:spPr>
      </p:pic>
      <p:sp>
        <p:nvSpPr>
          <p:cNvPr id="4" name="Google Shape;636;p58">
            <a:extLst>
              <a:ext uri="{FF2B5EF4-FFF2-40B4-BE49-F238E27FC236}">
                <a16:creationId xmlns:a16="http://schemas.microsoft.com/office/drawing/2014/main" id="{12C666F6-AA5A-1192-E0A3-1CF5266B6F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34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Introduction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Unix Variables</a:t>
            </a:r>
            <a:endParaRPr sz="24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PATH</a:t>
            </a:r>
            <a:endParaRPr sz="20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Related Functions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fork() and wait()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Exec Family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Internal Command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External Command</a:t>
            </a:r>
            <a:endParaRPr sz="20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rgbClr val="FF0000"/>
                </a:solidFill>
              </a:rPr>
              <a:t>Background Execution</a:t>
            </a:r>
            <a:endParaRPr sz="2400" dirty="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Output Redirection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Command </a:t>
            </a:r>
            <a:r>
              <a:rPr lang="en-US" altLang="zh-TW" sz="2400" dirty="0">
                <a:solidFill>
                  <a:schemeClr val="tx1"/>
                </a:solidFill>
              </a:rPr>
              <a:t>History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Exercise</a:t>
            </a:r>
            <a:endParaRPr sz="2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9251152F-ECC2-A193-23C7-0C050708EC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35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051111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Background Execution (1/2)</a:t>
            </a:r>
            <a:endParaRPr sz="4400" dirty="0"/>
          </a:p>
        </p:txBody>
      </p:sp>
      <p:sp>
        <p:nvSpPr>
          <p:cNvPr id="493" name="Google Shape;493;p42"/>
          <p:cNvSpPr txBox="1">
            <a:spLocks noGrp="1"/>
          </p:cNvSpPr>
          <p:nvPr>
            <p:ph type="body" idx="1"/>
          </p:nvPr>
        </p:nvSpPr>
        <p:spPr>
          <a:xfrm>
            <a:off x="457199" y="1268413"/>
            <a:ext cx="8431161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 err="1"/>
              <a:t>當你需要在背景執行程式時，在你要執行的指令後面加</a:t>
            </a:r>
            <a:r>
              <a:rPr lang="en-US" sz="2400" dirty="0"/>
              <a:t> “&amp;”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Example</a:t>
            </a:r>
            <a:endParaRPr dirty="0"/>
          </a:p>
          <a:p>
            <a:pPr marL="342900" lvl="0" indent="-342900" algn="l">
              <a:spcBef>
                <a:spcPts val="480"/>
              </a:spcBef>
              <a:spcAft>
                <a:spcPts val="0"/>
              </a:spcAft>
              <a:buSzPts val="1800"/>
            </a:pPr>
            <a:endParaRPr lang="en-US" sz="2400" dirty="0"/>
          </a:p>
          <a:p>
            <a:pPr marL="342900" indent="-247650">
              <a:spcBef>
                <a:spcPts val="400"/>
              </a:spcBef>
              <a:buSzPts val="1500"/>
              <a:buNone/>
            </a:pPr>
            <a:endParaRPr lang="zh-TW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AA823BF-6F50-4861-EF4E-056733CEB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54" y="2848183"/>
            <a:ext cx="6931491" cy="3471690"/>
          </a:xfrm>
          <a:prstGeom prst="rect">
            <a:avLst/>
          </a:prstGeom>
        </p:spPr>
      </p:pic>
      <p:sp>
        <p:nvSpPr>
          <p:cNvPr id="4" name="Google Shape;636;p58">
            <a:extLst>
              <a:ext uri="{FF2B5EF4-FFF2-40B4-BE49-F238E27FC236}">
                <a16:creationId xmlns:a16="http://schemas.microsoft.com/office/drawing/2014/main" id="{144F041D-9334-A85D-CB53-8B7A1D1CD3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36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3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Background Execution (2/2)</a:t>
            </a:r>
            <a:endParaRPr sz="4400" dirty="0"/>
          </a:p>
        </p:txBody>
      </p:sp>
      <p:sp>
        <p:nvSpPr>
          <p:cNvPr id="502" name="Google Shape;502;p43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altLang="zh-TW" sz="2400" dirty="0" err="1"/>
              <a:t>bg</a:t>
            </a:r>
            <a:r>
              <a:rPr lang="en-US" altLang="zh-TW" sz="2400" dirty="0"/>
              <a:t> </a:t>
            </a:r>
            <a:r>
              <a:rPr lang="zh-TW" altLang="en-US" sz="2400" dirty="0"/>
              <a:t>是 </a:t>
            </a:r>
            <a:r>
              <a:rPr lang="en-US" altLang="zh-TW" sz="2400" dirty="0"/>
              <a:t>job control </a:t>
            </a:r>
            <a:r>
              <a:rPr lang="zh-TW" altLang="en-US" sz="2400" dirty="0"/>
              <a:t>的一部分（</a:t>
            </a:r>
            <a:r>
              <a:rPr lang="en-US" altLang="zh-TW" sz="2400" dirty="0"/>
              <a:t>bash</a:t>
            </a:r>
            <a:r>
              <a:rPr lang="zh-TW" altLang="en-US" sz="2400" dirty="0"/>
              <a:t>、</a:t>
            </a:r>
            <a:r>
              <a:rPr lang="en-US" altLang="zh-TW" sz="2400" dirty="0" err="1"/>
              <a:t>zsh</a:t>
            </a:r>
            <a:r>
              <a:rPr lang="en-US" altLang="zh-TW" sz="2400" dirty="0"/>
              <a:t> </a:t>
            </a:r>
            <a:r>
              <a:rPr lang="zh-TW" altLang="en-US" sz="2400" dirty="0"/>
              <a:t>等 </a:t>
            </a:r>
            <a:r>
              <a:rPr lang="en-US" altLang="zh-TW" sz="2400" dirty="0"/>
              <a:t>shell </a:t>
            </a:r>
            <a:r>
              <a:rPr lang="zh-TW" altLang="en-US" sz="2400" dirty="0"/>
              <a:t>提供）</a:t>
            </a:r>
            <a:br>
              <a:rPr lang="en-US" altLang="zh-TW" sz="2400" dirty="0"/>
            </a:br>
            <a:endParaRPr lang="en-US" altLang="zh-TW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altLang="en-US" sz="2400" dirty="0"/>
              <a:t>需要用 </a:t>
            </a:r>
            <a:r>
              <a:rPr lang="en-US" altLang="zh-TW" sz="2400" dirty="0" err="1"/>
              <a:t>Ctrl+Z</a:t>
            </a:r>
            <a:r>
              <a:rPr lang="en-US" altLang="zh-TW" sz="2400" dirty="0"/>
              <a:t> </a:t>
            </a:r>
            <a:r>
              <a:rPr lang="zh-TW" altLang="en-US" sz="2400" dirty="0"/>
              <a:t>暫停作業，才能用 </a:t>
            </a:r>
            <a:r>
              <a:rPr lang="en-US" altLang="zh-TW" sz="2400" dirty="0" err="1"/>
              <a:t>bg</a:t>
            </a:r>
            <a:r>
              <a:rPr lang="en-US" altLang="zh-TW" sz="2400" dirty="0"/>
              <a:t> </a:t>
            </a:r>
            <a:r>
              <a:rPr lang="zh-TW" altLang="en-US" sz="2400" dirty="0"/>
              <a:t>將它送到背景執行</a:t>
            </a:r>
            <a:endParaRPr lang="en-US" altLang="zh-TW"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endParaRPr lang="en-US" altLang="zh-TW"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altLang="zh-TW" sz="2400" dirty="0"/>
              <a:t>Example</a:t>
            </a:r>
            <a:endParaRPr lang="zh-TW" altLang="en-US" sz="24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B47FFBB-7E9A-A9ED-B5A7-0B81967F1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293" y="3567906"/>
            <a:ext cx="5767414" cy="2342166"/>
          </a:xfrm>
          <a:prstGeom prst="rect">
            <a:avLst/>
          </a:prstGeom>
        </p:spPr>
      </p:pic>
      <p:sp>
        <p:nvSpPr>
          <p:cNvPr id="4" name="Google Shape;636;p58">
            <a:extLst>
              <a:ext uri="{FF2B5EF4-FFF2-40B4-BE49-F238E27FC236}">
                <a16:creationId xmlns:a16="http://schemas.microsoft.com/office/drawing/2014/main" id="{BA7CD522-4E6E-C92B-4CE0-D0C0011B46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37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Introduction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Unix Variables</a:t>
            </a:r>
            <a:endParaRPr sz="24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PATH</a:t>
            </a:r>
            <a:endParaRPr sz="20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Related Functions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fork() and wait()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Exec Family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Internal Command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External Command</a:t>
            </a:r>
            <a:endParaRPr sz="20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Background Execution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rgbClr val="FF0000"/>
                </a:solidFill>
              </a:rPr>
              <a:t>Output Redirection</a:t>
            </a:r>
            <a:endParaRPr sz="2400" dirty="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Command </a:t>
            </a:r>
            <a:r>
              <a:rPr lang="en-US" altLang="zh-TW" sz="2400" dirty="0">
                <a:solidFill>
                  <a:schemeClr val="tx1"/>
                </a:solidFill>
              </a:rPr>
              <a:t>History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Exercise</a:t>
            </a:r>
            <a:endParaRPr sz="2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F37C9F3A-C9CC-6C86-903E-AB3E06136AD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38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7620212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5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Output Redirection (1/5)</a:t>
            </a:r>
            <a:endParaRPr sz="4400" dirty="0"/>
          </a:p>
        </p:txBody>
      </p:sp>
      <p:sp>
        <p:nvSpPr>
          <p:cNvPr id="4" name="Google Shape;502;p43">
            <a:extLst>
              <a:ext uri="{FF2B5EF4-FFF2-40B4-BE49-F238E27FC236}">
                <a16:creationId xmlns:a16="http://schemas.microsoft.com/office/drawing/2014/main" id="{BBC8C2D4-C94F-8BD5-9774-C57F59EC28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altLang="zh-TW" sz="2400" dirty="0">
                <a:hlinkClick r:id="rId3"/>
              </a:rPr>
              <a:t>cat</a:t>
            </a:r>
            <a:r>
              <a:rPr lang="en-US" altLang="zh-TW" sz="2400" dirty="0"/>
              <a:t> </a:t>
            </a:r>
            <a:r>
              <a:rPr lang="zh-TW" altLang="en-US" sz="2400" dirty="0"/>
              <a:t>為 </a:t>
            </a:r>
            <a:r>
              <a:rPr lang="en-US" altLang="zh-TW" sz="2400" dirty="0"/>
              <a:t>Linux </a:t>
            </a:r>
            <a:r>
              <a:rPr lang="zh-TW" altLang="en-US" sz="2400" dirty="0"/>
              <a:t>的第一類指令 </a:t>
            </a:r>
            <a:r>
              <a:rPr lang="en-US" altLang="zh-TW" sz="2400" dirty="0"/>
              <a:t>(user command)</a:t>
            </a:r>
            <a:endParaRPr sz="24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C8805C3-F87C-9F1F-B01B-FCCC074C2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062" y="1738230"/>
            <a:ext cx="6631875" cy="4967370"/>
          </a:xfrm>
          <a:prstGeom prst="rect">
            <a:avLst/>
          </a:prstGeom>
        </p:spPr>
      </p:pic>
      <p:sp>
        <p:nvSpPr>
          <p:cNvPr id="5" name="Google Shape;636;p58">
            <a:extLst>
              <a:ext uri="{FF2B5EF4-FFF2-40B4-BE49-F238E27FC236}">
                <a16:creationId xmlns:a16="http://schemas.microsoft.com/office/drawing/2014/main" id="{DB5D2402-918E-F4F2-7F27-328A8C9868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39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1918747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5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Output Redirection (2/5)</a:t>
            </a:r>
            <a:endParaRPr sz="4400" dirty="0"/>
          </a:p>
        </p:txBody>
      </p:sp>
      <p:sp>
        <p:nvSpPr>
          <p:cNvPr id="4" name="Google Shape;502;p43">
            <a:extLst>
              <a:ext uri="{FF2B5EF4-FFF2-40B4-BE49-F238E27FC236}">
                <a16:creationId xmlns:a16="http://schemas.microsoft.com/office/drawing/2014/main" id="{BBC8C2D4-C94F-8BD5-9774-C57F59EC28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Standard Input (stdin): 0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Standard Output (stdout): 1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Standard Error (stderr): 2</a:t>
            </a:r>
            <a:endParaRPr sz="2400" dirty="0"/>
          </a:p>
        </p:txBody>
      </p:sp>
      <p:pic>
        <p:nvPicPr>
          <p:cNvPr id="1026" name="Picture 2" descr="Thinking in Pipelines | Effective Shell">
            <a:extLst>
              <a:ext uri="{FF2B5EF4-FFF2-40B4-BE49-F238E27FC236}">
                <a16:creationId xmlns:a16="http://schemas.microsoft.com/office/drawing/2014/main" id="{AC88E98B-CA07-AF9A-A21B-88E270D75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099" y="3938047"/>
            <a:ext cx="5627802" cy="150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636;p58">
            <a:extLst>
              <a:ext uri="{FF2B5EF4-FFF2-40B4-BE49-F238E27FC236}">
                <a16:creationId xmlns:a16="http://schemas.microsoft.com/office/drawing/2014/main" id="{3516416E-116F-EA6F-001E-758E8DA68B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40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5824171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5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Output Redirection (3/5)</a:t>
            </a:r>
            <a:endParaRPr lang="zh-TW" altLang="en-US" sz="44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66E774D-A462-A8A6-7BDB-FEE3858A8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76" y="2003221"/>
            <a:ext cx="7679448" cy="3699996"/>
          </a:xfrm>
          <a:prstGeom prst="rect">
            <a:avLst/>
          </a:prstGeom>
        </p:spPr>
      </p:pic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E013C2CE-C403-0352-47DF-A6F99A8098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41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5800744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02;p43">
            <a:extLst>
              <a:ext uri="{FF2B5EF4-FFF2-40B4-BE49-F238E27FC236}">
                <a16:creationId xmlns:a16="http://schemas.microsoft.com/office/drawing/2014/main" id="{D6989528-BA25-F309-8EBD-103938C724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Redirect stdout to file: </a:t>
            </a:r>
            <a:r>
              <a:rPr lang="en-US" sz="2400" dirty="0">
                <a:solidFill>
                  <a:srgbClr val="FF0000"/>
                </a:solidFill>
              </a:rPr>
              <a:t>&gt;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altLang="zh-TW" sz="2400" dirty="0"/>
              <a:t>Redirect stderr to file: </a:t>
            </a:r>
            <a:r>
              <a:rPr lang="en-US" altLang="zh-TW" sz="2400" dirty="0">
                <a:solidFill>
                  <a:srgbClr val="FF0000"/>
                </a:solidFill>
              </a:rPr>
              <a:t>2&gt;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</p:txBody>
      </p:sp>
      <p:sp>
        <p:nvSpPr>
          <p:cNvPr id="525" name="Google Shape;525;p46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Output Redirection (4/5)</a:t>
            </a:r>
            <a:endParaRPr sz="44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B52832B-5E28-34B7-767F-CB1FA7869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495" y="1761892"/>
            <a:ext cx="6697010" cy="16671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52C18F0-6ADD-043D-FE67-91828BB40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495" y="4373673"/>
            <a:ext cx="6697010" cy="1565165"/>
          </a:xfrm>
          <a:prstGeom prst="rect">
            <a:avLst/>
          </a:prstGeom>
        </p:spPr>
      </p:pic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D83E1735-6768-53A0-8977-0211F75A70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42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02;p43">
            <a:extLst>
              <a:ext uri="{FF2B5EF4-FFF2-40B4-BE49-F238E27FC236}">
                <a16:creationId xmlns:a16="http://schemas.microsoft.com/office/drawing/2014/main" id="{D6989528-BA25-F309-8EBD-103938C724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Redirect </a:t>
            </a:r>
            <a:r>
              <a:rPr lang="en-US" sz="2400" dirty="0" err="1"/>
              <a:t>stdout</a:t>
            </a:r>
            <a:r>
              <a:rPr lang="en-US" sz="2400" dirty="0"/>
              <a:t> </a:t>
            </a:r>
            <a:r>
              <a:rPr lang="en-US" sz="2400"/>
              <a:t>and stderr </a:t>
            </a:r>
            <a:r>
              <a:rPr lang="en-US" sz="2400" dirty="0"/>
              <a:t>to file: </a:t>
            </a:r>
            <a:r>
              <a:rPr lang="en-US" sz="2400" dirty="0">
                <a:solidFill>
                  <a:srgbClr val="FF0000"/>
                </a:solidFill>
              </a:rPr>
              <a:t>&amp;&gt;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altLang="zh-TW" sz="2400" dirty="0"/>
              <a:t>If the file exists, append it: </a:t>
            </a:r>
            <a:r>
              <a:rPr lang="en-US" altLang="zh-TW" sz="2400" dirty="0">
                <a:solidFill>
                  <a:srgbClr val="FF0000"/>
                </a:solidFill>
              </a:rPr>
              <a:t>&gt;&gt;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</p:txBody>
      </p:sp>
      <p:sp>
        <p:nvSpPr>
          <p:cNvPr id="525" name="Google Shape;525;p46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Output Redirection (5/5)</a:t>
            </a:r>
            <a:endParaRPr sz="44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260217E-0446-7E0E-B3A3-00CE14F59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047" y="1803967"/>
            <a:ext cx="6839905" cy="160995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00DAB3C-4051-5424-FBA3-B8D566074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046" y="4370917"/>
            <a:ext cx="6839904" cy="2118098"/>
          </a:xfrm>
          <a:prstGeom prst="rect">
            <a:avLst/>
          </a:prstGeom>
        </p:spPr>
      </p:pic>
      <p:sp>
        <p:nvSpPr>
          <p:cNvPr id="4" name="Google Shape;636;p58">
            <a:extLst>
              <a:ext uri="{FF2B5EF4-FFF2-40B4-BE49-F238E27FC236}">
                <a16:creationId xmlns:a16="http://schemas.microsoft.com/office/drawing/2014/main" id="{4D22807D-E440-DF29-1CC8-4E75138A60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43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42781396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Introduction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Unix Variables</a:t>
            </a:r>
            <a:endParaRPr sz="24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PATH</a:t>
            </a:r>
            <a:endParaRPr sz="20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Related Functions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fork() and wait()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Exec Family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Internal Command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External Command</a:t>
            </a:r>
            <a:endParaRPr sz="20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Background Execution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Output Redirection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rgbClr val="FF0000"/>
                </a:solidFill>
              </a:rPr>
              <a:t>Command History</a:t>
            </a:r>
            <a:endParaRPr sz="2400" dirty="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Exercise</a:t>
            </a:r>
            <a:endParaRPr sz="2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FF74CDD8-66A8-C3C2-076B-E5ADF559F7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44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843421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8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Command History (1/5)</a:t>
            </a:r>
            <a:endParaRPr sz="4400" dirty="0"/>
          </a:p>
        </p:txBody>
      </p:sp>
      <p:sp>
        <p:nvSpPr>
          <p:cNvPr id="541" name="Google Shape;541;p48"/>
          <p:cNvSpPr txBox="1">
            <a:spLocks noGrp="1"/>
          </p:cNvSpPr>
          <p:nvPr>
            <p:ph type="body" idx="1"/>
          </p:nvPr>
        </p:nvSpPr>
        <p:spPr>
          <a:xfrm>
            <a:off x="457200" y="1196975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It’s an </a:t>
            </a:r>
            <a:r>
              <a:rPr lang="en-US" sz="2400" dirty="0">
                <a:solidFill>
                  <a:srgbClr val="FF0000"/>
                </a:solidFill>
              </a:rPr>
              <a:t>internal command</a:t>
            </a:r>
            <a:r>
              <a:rPr lang="en-US" sz="2400" dirty="0"/>
              <a:t> that you can check commands you typed before.</a:t>
            </a:r>
            <a:endParaRPr sz="2400" dirty="0"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sp>
        <p:nvSpPr>
          <p:cNvPr id="4" name="Google Shape;636;p58">
            <a:extLst>
              <a:ext uri="{FF2B5EF4-FFF2-40B4-BE49-F238E27FC236}">
                <a16:creationId xmlns:a16="http://schemas.microsoft.com/office/drawing/2014/main" id="{4A25C045-8255-F98E-6136-D48042AB0D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45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F44770F-B23D-DD03-06CF-8B653D0CC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516" y="2622370"/>
            <a:ext cx="5176968" cy="303865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535CC7F-025D-6F3A-A294-125D718D2CB3}"/>
              </a:ext>
            </a:extLst>
          </p:cNvPr>
          <p:cNvSpPr/>
          <p:nvPr/>
        </p:nvSpPr>
        <p:spPr>
          <a:xfrm>
            <a:off x="3853543" y="2841171"/>
            <a:ext cx="718457" cy="1959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0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Command History (2/5)</a:t>
            </a:r>
            <a:endParaRPr sz="4400" dirty="0"/>
          </a:p>
        </p:txBody>
      </p:sp>
      <p:sp>
        <p:nvSpPr>
          <p:cNvPr id="557" name="Google Shape;557;p50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rgbClr val="FF0000"/>
                </a:solidFill>
              </a:rPr>
              <a:t>.</a:t>
            </a:r>
            <a:r>
              <a:rPr lang="en-US" sz="2400" dirty="0" err="1">
                <a:solidFill>
                  <a:srgbClr val="FF0000"/>
                </a:solidFill>
              </a:rPr>
              <a:t>bash_history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records what you typed before</a:t>
            </a:r>
            <a:endParaRPr sz="2400" dirty="0"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8F33224-4D71-ED16-45A7-86B4BD73E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332" y="1791751"/>
            <a:ext cx="5553336" cy="4788158"/>
          </a:xfrm>
          <a:prstGeom prst="rect">
            <a:avLst/>
          </a:prstGeom>
        </p:spPr>
      </p:pic>
      <p:sp>
        <p:nvSpPr>
          <p:cNvPr id="4" name="Google Shape;636;p58">
            <a:extLst>
              <a:ext uri="{FF2B5EF4-FFF2-40B4-BE49-F238E27FC236}">
                <a16:creationId xmlns:a16="http://schemas.microsoft.com/office/drawing/2014/main" id="{9921B238-5D2B-7A7B-C03F-71DC473C20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46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1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Command History (3/5)</a:t>
            </a:r>
            <a:endParaRPr sz="4400" dirty="0"/>
          </a:p>
        </p:txBody>
      </p:sp>
      <p:sp>
        <p:nvSpPr>
          <p:cNvPr id="569" name="Google Shape;569;p51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Command history will get data from buffer. After you turn off the terminal, the data will be sent to .</a:t>
            </a:r>
            <a:r>
              <a:rPr lang="en-US" sz="2400" dirty="0" err="1"/>
              <a:t>bash_history</a:t>
            </a:r>
            <a:endParaRPr sz="2400" dirty="0"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A6548BC-6833-5E7E-542E-B7AACB5F9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399" y="2690785"/>
            <a:ext cx="6041201" cy="2898802"/>
          </a:xfrm>
          <a:prstGeom prst="rect">
            <a:avLst/>
          </a:prstGeom>
        </p:spPr>
      </p:pic>
      <p:sp>
        <p:nvSpPr>
          <p:cNvPr id="9" name="Google Shape;326;p22">
            <a:extLst>
              <a:ext uri="{FF2B5EF4-FFF2-40B4-BE49-F238E27FC236}">
                <a16:creationId xmlns:a16="http://schemas.microsoft.com/office/drawing/2014/main" id="{0EE876EA-D939-7CDB-8BEC-3042181B458F}"/>
              </a:ext>
            </a:extLst>
          </p:cNvPr>
          <p:cNvSpPr/>
          <p:nvPr/>
        </p:nvSpPr>
        <p:spPr>
          <a:xfrm>
            <a:off x="1739673" y="3106675"/>
            <a:ext cx="3784434" cy="890289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78594C67-D530-5100-8A05-E4E369013E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47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Command History (4/5)</a:t>
            </a:r>
            <a:endParaRPr sz="4400" dirty="0"/>
          </a:p>
        </p:txBody>
      </p:sp>
      <p:sp>
        <p:nvSpPr>
          <p:cNvPr id="590" name="Google Shape;590;p52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5256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00007D"/>
              </a:buClr>
              <a:buSzPts val="1800"/>
            </a:pPr>
            <a:r>
              <a:rPr lang="en-US" sz="2400" dirty="0" err="1"/>
              <a:t>readline</a:t>
            </a:r>
            <a:r>
              <a:rPr lang="en-US" sz="2400" dirty="0"/>
              <a:t>() will read a line from the terminal and return it</a:t>
            </a:r>
            <a:endParaRPr lang="zh-TW" altLang="en-US" dirty="0"/>
          </a:p>
          <a:p>
            <a:pPr marL="342900" indent="-342900">
              <a:spcBef>
                <a:spcPts val="0"/>
              </a:spcBef>
              <a:buSzPts val="1800"/>
            </a:pPr>
            <a:endParaRPr lang="en-US" sz="2400" dirty="0"/>
          </a:p>
          <a:p>
            <a:pPr marL="342900" indent="-342900">
              <a:spcBef>
                <a:spcPts val="0"/>
              </a:spcBef>
              <a:buSzPts val="1800"/>
            </a:pPr>
            <a:endParaRPr lang="en-US" sz="2400" dirty="0"/>
          </a:p>
          <a:p>
            <a:pPr marL="342900" indent="-342900">
              <a:spcBef>
                <a:spcPts val="0"/>
              </a:spcBef>
              <a:buSzPts val="1800"/>
            </a:pPr>
            <a:endParaRPr lang="en-US" sz="2400" dirty="0"/>
          </a:p>
          <a:p>
            <a:pPr marL="342900" indent="-342900">
              <a:spcBef>
                <a:spcPts val="0"/>
              </a:spcBef>
              <a:buSzPts val="1800"/>
            </a:pPr>
            <a:endParaRPr lang="en-US" sz="2400" dirty="0"/>
          </a:p>
          <a:p>
            <a:pPr marL="342900" indent="-342900">
              <a:spcBef>
                <a:spcPts val="0"/>
              </a:spcBef>
              <a:buSzPts val="1800"/>
            </a:pPr>
            <a:endParaRPr lang="en-US" sz="2400" dirty="0"/>
          </a:p>
          <a:p>
            <a:pPr marL="342900" indent="-342900">
              <a:spcBef>
                <a:spcPts val="480"/>
              </a:spcBef>
              <a:buSzPts val="1800"/>
            </a:pPr>
            <a:endParaRPr lang="en-US" sz="2400" dirty="0"/>
          </a:p>
          <a:p>
            <a:pPr marL="342900" indent="-342900">
              <a:spcBef>
                <a:spcPts val="480"/>
              </a:spcBef>
              <a:buSzPts val="1800"/>
            </a:pPr>
            <a:r>
              <a:rPr lang="en-US" sz="2400" dirty="0"/>
              <a:t>You need to </a:t>
            </a:r>
            <a:r>
              <a:rPr lang="en-US" sz="2400" dirty="0">
                <a:solidFill>
                  <a:srgbClr val="FF0000"/>
                </a:solidFill>
              </a:rPr>
              <a:t>install </a:t>
            </a:r>
            <a:r>
              <a:rPr lang="en-US" sz="2400" dirty="0" err="1">
                <a:solidFill>
                  <a:srgbClr val="FF0000"/>
                </a:solidFill>
              </a:rPr>
              <a:t>libreadline</a:t>
            </a:r>
            <a:r>
              <a:rPr lang="en-US" sz="2400" dirty="0">
                <a:solidFill>
                  <a:srgbClr val="FF0000"/>
                </a:solidFill>
              </a:rPr>
              <a:t>-dev package</a:t>
            </a:r>
            <a:r>
              <a:rPr lang="en-US" sz="2400" dirty="0">
                <a:solidFill>
                  <a:schemeClr val="tx1"/>
                </a:solidFill>
              </a:rPr>
              <a:t> first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spcBef>
                <a:spcPts val="480"/>
              </a:spcBef>
              <a:buSzPts val="1800"/>
            </a:pPr>
            <a:endParaRPr lang="en-US" dirty="0"/>
          </a:p>
          <a:p>
            <a:pPr marL="342900" indent="-342900">
              <a:spcBef>
                <a:spcPts val="480"/>
              </a:spcBef>
              <a:buSzPts val="1800"/>
            </a:pPr>
            <a:endParaRPr lang="en-US" sz="2400" dirty="0"/>
          </a:p>
          <a:p>
            <a:pPr marL="342900" indent="-342900">
              <a:spcBef>
                <a:spcPts val="480"/>
              </a:spcBef>
              <a:buSzPts val="1800"/>
            </a:pPr>
            <a:r>
              <a:rPr lang="en-US" sz="2400" dirty="0"/>
              <a:t>You also need to </a:t>
            </a:r>
            <a:r>
              <a:rPr lang="en-US" sz="2400" dirty="0">
                <a:solidFill>
                  <a:srgbClr val="FF0000"/>
                </a:solidFill>
              </a:rPr>
              <a:t>link the </a:t>
            </a:r>
            <a:r>
              <a:rPr lang="en-US" sz="2400" dirty="0" err="1">
                <a:solidFill>
                  <a:srgbClr val="FF0000"/>
                </a:solidFill>
              </a:rPr>
              <a:t>readline</a:t>
            </a:r>
            <a:r>
              <a:rPr lang="en-US" sz="2400" dirty="0">
                <a:solidFill>
                  <a:srgbClr val="FF0000"/>
                </a:solidFill>
              </a:rPr>
              <a:t> library</a:t>
            </a:r>
            <a:r>
              <a:rPr lang="en-US" sz="2400" dirty="0"/>
              <a:t> while you compile the program</a:t>
            </a:r>
            <a:endParaRPr lang="en-US" dirty="0"/>
          </a:p>
        </p:txBody>
      </p:sp>
      <p:sp>
        <p:nvSpPr>
          <p:cNvPr id="592" name="Google Shape;592;p52"/>
          <p:cNvSpPr txBox="1"/>
          <p:nvPr/>
        </p:nvSpPr>
        <p:spPr>
          <a:xfrm>
            <a:off x="841327" y="1742522"/>
            <a:ext cx="7467018" cy="172819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#include &lt;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stdio.h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#include &lt;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readline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readline.h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#include &lt;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readline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history.h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char*</a:t>
            </a:r>
            <a:r>
              <a:rPr lang="zh-TW" alt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zh-TW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readline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const char *prompt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dirty="0"/>
          </a:p>
        </p:txBody>
      </p:sp>
      <p:sp>
        <p:nvSpPr>
          <p:cNvPr id="593" name="Google Shape;593;p52"/>
          <p:cNvSpPr txBox="1"/>
          <p:nvPr/>
        </p:nvSpPr>
        <p:spPr>
          <a:xfrm>
            <a:off x="836877" y="5935444"/>
            <a:ext cx="7467018" cy="4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gcc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 &lt;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source_file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&gt;.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 –o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&lt;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executable_file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–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lreadline</a:t>
            </a:r>
            <a:endParaRPr lang="zh-TW" altLang="en-US" sz="2000" b="0" i="0" u="none" strike="noStrike" cap="none" dirty="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Google Shape;593;p52">
            <a:extLst>
              <a:ext uri="{FF2B5EF4-FFF2-40B4-BE49-F238E27FC236}">
                <a16:creationId xmlns:a16="http://schemas.microsoft.com/office/drawing/2014/main" id="{1346409F-E16F-D2B4-F948-423256D7EDD1}"/>
              </a:ext>
            </a:extLst>
          </p:cNvPr>
          <p:cNvSpPr txBox="1"/>
          <p:nvPr/>
        </p:nvSpPr>
        <p:spPr>
          <a:xfrm>
            <a:off x="836876" y="4355689"/>
            <a:ext cx="7467018" cy="4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sudo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apt install 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libreadline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-dev</a:t>
            </a:r>
            <a:endParaRPr lang="en-US"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Google Shape;636;p58">
            <a:extLst>
              <a:ext uri="{FF2B5EF4-FFF2-40B4-BE49-F238E27FC236}">
                <a16:creationId xmlns:a16="http://schemas.microsoft.com/office/drawing/2014/main" id="{BC02B5AF-008D-0489-A456-E04B393277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48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3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Command History (5/5)</a:t>
            </a:r>
            <a:endParaRPr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AD9D4CC-20A1-3E2C-F04B-8240FAE68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81" y="1249331"/>
            <a:ext cx="6919237" cy="5151469"/>
          </a:xfrm>
          <a:prstGeom prst="rect">
            <a:avLst/>
          </a:prstGeom>
        </p:spPr>
      </p:pic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D82B2A88-61A3-8A39-7E64-23B6785F8E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49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Introduction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Unix Variables</a:t>
            </a:r>
            <a:endParaRPr sz="24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PATH</a:t>
            </a:r>
            <a:endParaRPr sz="20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Related Functions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fork() and wait()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Exec Family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Internal Command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External Command</a:t>
            </a:r>
            <a:endParaRPr sz="20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Background Execution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Output Redirection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Command History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rgbClr val="FF0000"/>
                </a:solidFill>
              </a:rPr>
              <a:t>Exercise</a:t>
            </a:r>
            <a:endParaRPr sz="2400" dirty="0">
              <a:solidFill>
                <a:srgbClr val="FF0000"/>
              </a:solidFill>
            </a:endParaRPr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D2A975B8-36FC-1DD7-6D4D-1842B36BAD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50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7919240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19;p2">
            <a:extLst>
              <a:ext uri="{FF2B5EF4-FFF2-40B4-BE49-F238E27FC236}">
                <a16:creationId xmlns:a16="http://schemas.microsoft.com/office/drawing/2014/main" id="{BC6BA577-8816-E9F5-0AFF-9177A71AFEBA}"/>
              </a:ext>
            </a:extLst>
          </p:cNvPr>
          <p:cNvSpPr txBox="1">
            <a:spLocks/>
          </p:cNvSpPr>
          <p:nvPr/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432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289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17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spcBef>
                <a:spcPts val="480"/>
              </a:spcBef>
              <a:buSzPts val="1920"/>
            </a:pPr>
            <a:r>
              <a:rPr lang="en-US" sz="2400" dirty="0">
                <a:solidFill>
                  <a:schemeClr val="tx1"/>
                </a:solidFill>
              </a:rPr>
              <a:t>A Simple Linux Shell</a:t>
            </a:r>
          </a:p>
          <a:p>
            <a:pPr marL="742950" lvl="1" indent="-285750">
              <a:spcBef>
                <a:spcPts val="480"/>
              </a:spcBef>
              <a:buSzPts val="1920"/>
            </a:pPr>
            <a:r>
              <a:rPr lang="zh-TW" altLang="en-US" sz="2000" dirty="0">
                <a:solidFill>
                  <a:schemeClr val="tx1"/>
                </a:solidFill>
              </a:rPr>
              <a:t>基本功能 </a:t>
            </a:r>
            <a:r>
              <a:rPr lang="en-US" altLang="zh-TW" sz="2000" dirty="0">
                <a:solidFill>
                  <a:schemeClr val="tx1"/>
                </a:solidFill>
              </a:rPr>
              <a:t>(70%)</a:t>
            </a:r>
            <a:endParaRPr lang="zh-TW" altLang="en-US" sz="2000" dirty="0">
              <a:solidFill>
                <a:schemeClr val="tx1"/>
              </a:solidFill>
            </a:endParaRPr>
          </a:p>
          <a:p>
            <a:pPr marL="1257300" lvl="2" indent="-342900">
              <a:spcBef>
                <a:spcPts val="480"/>
              </a:spcBef>
              <a:buSzPts val="1920"/>
              <a:buFont typeface="+mj-lt"/>
              <a:buAutoNum type="arabicPeriod"/>
            </a:pPr>
            <a:r>
              <a:rPr lang="zh-TW" altLang="en-US" sz="2000" dirty="0">
                <a:solidFill>
                  <a:schemeClr val="tx1"/>
                </a:solidFill>
              </a:rPr>
              <a:t>印出 </a:t>
            </a:r>
            <a:r>
              <a:rPr lang="en-US" sz="2000" dirty="0">
                <a:solidFill>
                  <a:schemeClr val="tx1"/>
                </a:solidFill>
              </a:rPr>
              <a:t>prompt</a:t>
            </a:r>
            <a:r>
              <a:rPr lang="zh-TW" altLang="en-US" sz="2000" dirty="0">
                <a:solidFill>
                  <a:schemeClr val="tx1"/>
                </a:solidFill>
              </a:rPr>
              <a:t> 並可讓使用者輸入 </a:t>
            </a:r>
            <a:r>
              <a:rPr lang="en-US" altLang="zh-TW" sz="2000" dirty="0">
                <a:solidFill>
                  <a:schemeClr val="tx1"/>
                </a:solidFill>
              </a:rPr>
              <a:t>command</a:t>
            </a:r>
            <a:endParaRPr lang="en-US" sz="2000" dirty="0">
              <a:solidFill>
                <a:schemeClr val="tx1"/>
              </a:solidFill>
            </a:endParaRPr>
          </a:p>
          <a:p>
            <a:pPr marL="1714500" lvl="3" indent="-342900">
              <a:spcBef>
                <a:spcPts val="480"/>
              </a:spcBef>
              <a:buSzPts val="1920"/>
            </a:pPr>
            <a:r>
              <a:rPr lang="en-US" altLang="zh-TW" sz="1800" dirty="0">
                <a:solidFill>
                  <a:schemeClr val="tx1"/>
                </a:solidFill>
              </a:rPr>
              <a:t>prompt </a:t>
            </a:r>
            <a:r>
              <a:rPr lang="zh-TW" altLang="en-US" sz="1800" dirty="0">
                <a:solidFill>
                  <a:schemeClr val="tx1"/>
                </a:solidFill>
              </a:rPr>
              <a:t>需印出 </a:t>
            </a:r>
            <a:r>
              <a:rPr lang="en-US" altLang="zh-TW" sz="1800" dirty="0">
                <a:solidFill>
                  <a:schemeClr val="tx1"/>
                </a:solidFill>
              </a:rPr>
              <a:t>"</a:t>
            </a:r>
            <a:r>
              <a:rPr lang="en-US" altLang="zh-TW" sz="1800" dirty="0">
                <a:solidFill>
                  <a:srgbClr val="FF0000"/>
                </a:solidFill>
              </a:rPr>
              <a:t>&lt;</a:t>
            </a:r>
            <a:r>
              <a:rPr lang="zh-TW" altLang="en-US" sz="1800" dirty="0">
                <a:solidFill>
                  <a:srgbClr val="FF0000"/>
                </a:solidFill>
              </a:rPr>
              <a:t>當前使用者</a:t>
            </a:r>
            <a:r>
              <a:rPr lang="en-US" altLang="zh-TW" sz="1800" dirty="0">
                <a:solidFill>
                  <a:srgbClr val="FF0000"/>
                </a:solidFill>
              </a:rPr>
              <a:t>&gt;@&lt;</a:t>
            </a:r>
            <a:r>
              <a:rPr lang="zh-TW" altLang="en-US" sz="1800" dirty="0">
                <a:solidFill>
                  <a:srgbClr val="FF0000"/>
                </a:solidFill>
              </a:rPr>
              <a:t>當前主機名稱</a:t>
            </a:r>
            <a:r>
              <a:rPr lang="en-US" altLang="zh-TW" sz="1800" dirty="0">
                <a:solidFill>
                  <a:srgbClr val="FF0000"/>
                </a:solidFill>
              </a:rPr>
              <a:t>&gt;:&lt;</a:t>
            </a:r>
            <a:r>
              <a:rPr lang="zh-TW" altLang="en-US" sz="1800" dirty="0">
                <a:solidFill>
                  <a:srgbClr val="FF0000"/>
                </a:solidFill>
              </a:rPr>
              <a:t>當前路徑</a:t>
            </a:r>
            <a:r>
              <a:rPr lang="en-US" altLang="zh-TW" sz="1800" dirty="0">
                <a:solidFill>
                  <a:srgbClr val="FF0000"/>
                </a:solidFill>
              </a:rPr>
              <a:t>&gt;</a:t>
            </a:r>
            <a:r>
              <a:rPr lang="zh-TW" altLang="en-US" sz="1800" dirty="0">
                <a:solidFill>
                  <a:srgbClr val="FF0000"/>
                </a:solidFill>
              </a:rPr>
              <a:t> </a:t>
            </a:r>
            <a:r>
              <a:rPr lang="en-US" altLang="zh-TW" sz="1800" dirty="0">
                <a:solidFill>
                  <a:srgbClr val="FF0000"/>
                </a:solidFill>
              </a:rPr>
              <a:t>$</a:t>
            </a:r>
            <a:r>
              <a:rPr lang="zh-TW" altLang="en-US" sz="1800" dirty="0">
                <a:solidFill>
                  <a:srgbClr val="FF0000"/>
                </a:solidFill>
              </a:rPr>
              <a:t> </a:t>
            </a:r>
            <a:r>
              <a:rPr lang="en-US" altLang="zh-TW" sz="1800" dirty="0">
                <a:solidFill>
                  <a:schemeClr val="tx1"/>
                </a:solidFill>
              </a:rPr>
              <a:t>"</a:t>
            </a:r>
            <a:br>
              <a:rPr lang="en-US" altLang="zh-TW" sz="1800" dirty="0">
                <a:solidFill>
                  <a:schemeClr val="tx1"/>
                </a:solidFill>
              </a:rPr>
            </a:br>
            <a:endParaRPr lang="en-US" altLang="zh-TW" sz="1800" dirty="0">
              <a:solidFill>
                <a:schemeClr val="tx1"/>
              </a:solidFill>
            </a:endParaRPr>
          </a:p>
          <a:p>
            <a:pPr marL="1257300" lvl="2" indent="-342900">
              <a:spcBef>
                <a:spcPts val="480"/>
              </a:spcBef>
              <a:buSzPts val="1920"/>
              <a:buFont typeface="+mj-lt"/>
              <a:buAutoNum type="arabicPeriod"/>
            </a:pPr>
            <a:r>
              <a:rPr lang="zh-TW" altLang="en-US" sz="2000" dirty="0">
                <a:solidFill>
                  <a:schemeClr val="tx1"/>
                </a:solidFill>
              </a:rPr>
              <a:t>接受並執行 </a:t>
            </a:r>
            <a:r>
              <a:rPr lang="en-US" sz="2000" dirty="0">
                <a:solidFill>
                  <a:schemeClr val="tx1"/>
                </a:solidFill>
              </a:rPr>
              <a:t>command</a:t>
            </a:r>
          </a:p>
          <a:p>
            <a:pPr marL="1706245" lvl="3" indent="-334645">
              <a:spcBef>
                <a:spcPts val="480"/>
              </a:spcBef>
              <a:buSzPts val="1920"/>
            </a:pPr>
            <a:r>
              <a:rPr lang="en-US" sz="1800" dirty="0">
                <a:solidFill>
                  <a:schemeClr val="tx1"/>
                </a:solidFill>
              </a:rPr>
              <a:t>Internal commands</a:t>
            </a:r>
            <a:r>
              <a:rPr lang="en-US" altLang="zh-TW" sz="1800" dirty="0">
                <a:solidFill>
                  <a:schemeClr val="tx1"/>
                </a:solidFill>
              </a:rPr>
              <a:t>:</a:t>
            </a:r>
            <a:r>
              <a:rPr lang="zh-TW" altLang="en-US" sz="1800" dirty="0">
                <a:solidFill>
                  <a:schemeClr val="tx1"/>
                </a:solidFill>
              </a:rPr>
              <a:t> </a:t>
            </a:r>
            <a:r>
              <a:rPr lang="en-US" altLang="zh-TW" sz="1800" dirty="0">
                <a:solidFill>
                  <a:schemeClr val="tx1"/>
                </a:solidFill>
              </a:rPr>
              <a:t>cd, </a:t>
            </a:r>
            <a:r>
              <a:rPr lang="en-US" altLang="zh-TW" sz="1800" dirty="0" err="1">
                <a:solidFill>
                  <a:schemeClr val="tx1"/>
                </a:solidFill>
              </a:rPr>
              <a:t>pwd</a:t>
            </a:r>
            <a:r>
              <a:rPr lang="en-US" altLang="zh-TW" sz="1800" dirty="0">
                <a:solidFill>
                  <a:schemeClr val="tx1"/>
                </a:solidFill>
              </a:rPr>
              <a:t>, echo, </a:t>
            </a:r>
            <a:r>
              <a:rPr lang="en-US" sz="1800" dirty="0">
                <a:solidFill>
                  <a:schemeClr val="tx1"/>
                </a:solidFill>
              </a:rPr>
              <a:t>export</a:t>
            </a:r>
            <a:endParaRPr lang="zh-TW" altLang="en-US" sz="1800" dirty="0">
              <a:solidFill>
                <a:schemeClr val="tx1"/>
              </a:solidFill>
            </a:endParaRPr>
          </a:p>
          <a:p>
            <a:pPr marL="1706245" lvl="3" indent="-334645">
              <a:spcBef>
                <a:spcPts val="480"/>
              </a:spcBef>
              <a:buSzPts val="1920"/>
            </a:pPr>
            <a:r>
              <a:rPr lang="en-US" altLang="zh-TW" sz="1800" dirty="0">
                <a:solidFill>
                  <a:schemeClr val="tx1"/>
                </a:solidFill>
              </a:rPr>
              <a:t>External </a:t>
            </a:r>
            <a:r>
              <a:rPr lang="en-US" sz="1800" dirty="0">
                <a:solidFill>
                  <a:schemeClr val="tx1"/>
                </a:solidFill>
              </a:rPr>
              <a:t>commands</a:t>
            </a:r>
          </a:p>
          <a:p>
            <a:pPr marL="1706245" lvl="3" indent="-334645">
              <a:spcBef>
                <a:spcPts val="480"/>
              </a:spcBef>
              <a:buSzPts val="1920"/>
            </a:pPr>
            <a:r>
              <a:rPr lang="zh-TW" altLang="en-US" sz="1800" dirty="0">
                <a:solidFill>
                  <a:schemeClr val="tx1"/>
                </a:solidFill>
              </a:rPr>
              <a:t>輸入 exit 結束程式</a:t>
            </a:r>
          </a:p>
          <a:p>
            <a:pPr marL="1706245" lvl="3" indent="-334645">
              <a:spcBef>
                <a:spcPts val="480"/>
              </a:spcBef>
              <a:buClr>
                <a:srgbClr val="9999CC"/>
              </a:buClr>
              <a:buSzPts val="1920"/>
            </a:pPr>
            <a:endParaRPr lang="zh-TW" altLang="en-US" sz="2200" dirty="0">
              <a:solidFill>
                <a:schemeClr val="tx1"/>
              </a:solidFill>
            </a:endParaRPr>
          </a:p>
          <a:p>
            <a:pPr marL="1254125" lvl="2" indent="-339725">
              <a:spcBef>
                <a:spcPts val="480"/>
              </a:spcBef>
              <a:buSzPts val="192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command</a:t>
            </a:r>
            <a:r>
              <a:rPr lang="zh-TW" altLang="en-US" sz="2000" dirty="0">
                <a:solidFill>
                  <a:schemeClr val="tx1"/>
                </a:solidFill>
              </a:rPr>
              <a:t> 執行結束後，再回到 </a:t>
            </a:r>
            <a:r>
              <a:rPr lang="en-US" altLang="zh-TW" sz="2000" dirty="0">
                <a:solidFill>
                  <a:schemeClr val="tx1"/>
                </a:solidFill>
              </a:rPr>
              <a:t>1.</a:t>
            </a:r>
          </a:p>
          <a:p>
            <a:pPr marL="285750" indent="-285750">
              <a:spcBef>
                <a:spcPts val="480"/>
              </a:spcBef>
              <a:buSzPts val="1920"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4" name="Google Shape;118;p2">
            <a:extLst>
              <a:ext uri="{FF2B5EF4-FFF2-40B4-BE49-F238E27FC236}">
                <a16:creationId xmlns:a16="http://schemas.microsoft.com/office/drawing/2014/main" id="{B47E2535-8706-9A96-EA44-177B892F2D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Exercise (1/4)</a:t>
            </a:r>
            <a:endParaRPr sz="4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745EA9B6-CB8D-091F-28C3-56C1428B27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51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9;p2">
            <a:extLst>
              <a:ext uri="{FF2B5EF4-FFF2-40B4-BE49-F238E27FC236}">
                <a16:creationId xmlns:a16="http://schemas.microsoft.com/office/drawing/2014/main" id="{1FBF352A-D9B0-602D-992E-7F80CD35665B}"/>
              </a:ext>
            </a:extLst>
          </p:cNvPr>
          <p:cNvSpPr txBox="1">
            <a:spLocks/>
          </p:cNvSpPr>
          <p:nvPr/>
        </p:nvSpPr>
        <p:spPr>
          <a:xfrm>
            <a:off x="467544" y="1268760"/>
            <a:ext cx="8316238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432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289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17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spcBef>
                <a:spcPts val="480"/>
              </a:spcBef>
              <a:buSzPts val="1920"/>
            </a:pPr>
            <a:r>
              <a:rPr lang="en-US" sz="2400" dirty="0">
                <a:solidFill>
                  <a:schemeClr val="tx1"/>
                </a:solidFill>
              </a:rPr>
              <a:t>A Simple Linux Shell</a:t>
            </a:r>
            <a:r>
              <a:rPr lang="zh-TW" altLang="en-US" sz="2400" dirty="0">
                <a:solidFill>
                  <a:schemeClr val="tx1"/>
                </a:solidFill>
              </a:rPr>
              <a:t> </a:t>
            </a:r>
            <a:r>
              <a:rPr lang="en-US" altLang="zh-TW" sz="2400" dirty="0">
                <a:solidFill>
                  <a:schemeClr val="tx1"/>
                </a:solidFill>
              </a:rPr>
              <a:t>(Cont.)</a:t>
            </a:r>
            <a:endParaRPr lang="en-US" sz="2400" dirty="0">
              <a:solidFill>
                <a:schemeClr val="tx1"/>
              </a:solidFill>
            </a:endParaRPr>
          </a:p>
          <a:p>
            <a:pPr marL="742950" lvl="1" indent="-285750">
              <a:spcBef>
                <a:spcPts val="480"/>
              </a:spcBef>
              <a:buSzPts val="1920"/>
            </a:pPr>
            <a:r>
              <a:rPr lang="zh-TW" altLang="en-US" sz="2000" dirty="0">
                <a:solidFill>
                  <a:schemeClr val="tx1"/>
                </a:solidFill>
              </a:rPr>
              <a:t>進階功能 </a:t>
            </a:r>
            <a:r>
              <a:rPr lang="en-US" altLang="zh-TW" sz="2000" dirty="0">
                <a:solidFill>
                  <a:schemeClr val="tx1"/>
                </a:solidFill>
              </a:rPr>
              <a:t>(30%)</a:t>
            </a:r>
          </a:p>
          <a:p>
            <a:pPr marL="1257300" lvl="2" indent="-342900">
              <a:spcBef>
                <a:spcPts val="480"/>
              </a:spcBef>
              <a:buSzPts val="1920"/>
              <a:buFont typeface="+mj-lt"/>
              <a:buAutoNum type="arabicPeriod"/>
            </a:pPr>
            <a:r>
              <a:rPr lang="zh-TW" altLang="en-US" sz="2000" dirty="0">
                <a:solidFill>
                  <a:schemeClr val="tx1"/>
                </a:solidFill>
              </a:rPr>
              <a:t>支援 </a:t>
            </a:r>
            <a:r>
              <a:rPr lang="en-US" altLang="zh-TW" sz="2000" dirty="0">
                <a:solidFill>
                  <a:schemeClr val="tx1"/>
                </a:solidFill>
              </a:rPr>
              <a:t>background execution (&amp;) (10%)</a:t>
            </a:r>
          </a:p>
          <a:p>
            <a:pPr marL="1714500" lvl="3" indent="-342900">
              <a:spcBef>
                <a:spcPts val="480"/>
              </a:spcBef>
              <a:buSzPts val="1920"/>
            </a:pPr>
            <a:r>
              <a:rPr lang="zh-TW" altLang="en-US" sz="1800" dirty="0">
                <a:solidFill>
                  <a:schemeClr val="tx1"/>
                </a:solidFill>
              </a:rPr>
              <a:t>需追加實作 </a:t>
            </a:r>
            <a:r>
              <a:rPr lang="en-US" altLang="zh-TW" sz="1800" dirty="0">
                <a:solidFill>
                  <a:schemeClr val="tx1"/>
                </a:solidFill>
              </a:rPr>
              <a:t>Internal commands:</a:t>
            </a:r>
            <a:r>
              <a:rPr lang="zh-TW" altLang="en-US" sz="1800" dirty="0">
                <a:solidFill>
                  <a:schemeClr val="tx1"/>
                </a:solidFill>
              </a:rPr>
              <a:t> </a:t>
            </a:r>
            <a:r>
              <a:rPr lang="en-US" altLang="zh-TW" sz="1800" dirty="0" err="1">
                <a:solidFill>
                  <a:schemeClr val="tx1"/>
                </a:solidFill>
              </a:rPr>
              <a:t>sbg</a:t>
            </a:r>
            <a:endParaRPr lang="en-US" altLang="zh-TW" sz="1800" dirty="0">
              <a:solidFill>
                <a:schemeClr val="tx1"/>
              </a:solidFill>
            </a:endParaRPr>
          </a:p>
          <a:p>
            <a:pPr marL="1257300" lvl="2" indent="-342900">
              <a:spcBef>
                <a:spcPts val="480"/>
              </a:spcBef>
              <a:buSzPts val="1920"/>
              <a:buFont typeface="+mj-lt"/>
              <a:buAutoNum type="arabicPeriod"/>
            </a:pPr>
            <a:endParaRPr lang="en-US" altLang="zh-TW" sz="2000" dirty="0">
              <a:solidFill>
                <a:schemeClr val="tx1"/>
              </a:solidFill>
            </a:endParaRPr>
          </a:p>
          <a:p>
            <a:pPr marL="1257300" lvl="2" indent="-342900">
              <a:spcBef>
                <a:spcPts val="480"/>
              </a:spcBef>
              <a:buSzPts val="1920"/>
              <a:buFont typeface="+mj-lt"/>
              <a:buAutoNum type="arabicPeriod"/>
            </a:pPr>
            <a:r>
              <a:rPr lang="zh-TW" altLang="en-US" sz="2000" dirty="0">
                <a:solidFill>
                  <a:schemeClr val="tx1"/>
                </a:solidFill>
              </a:rPr>
              <a:t>支援 </a:t>
            </a:r>
            <a:r>
              <a:rPr lang="en-US" altLang="zh-TW" sz="2000" dirty="0">
                <a:solidFill>
                  <a:schemeClr val="tx1"/>
                </a:solidFill>
              </a:rPr>
              <a:t>output redirection (&gt;) (10%)</a:t>
            </a:r>
          </a:p>
          <a:p>
            <a:pPr marL="1257300" lvl="2" indent="-342900">
              <a:spcBef>
                <a:spcPts val="480"/>
              </a:spcBef>
              <a:buSzPts val="1920"/>
              <a:buFont typeface="+mj-lt"/>
              <a:buAutoNum type="arabicPeriod"/>
            </a:pPr>
            <a:endParaRPr lang="en-US" altLang="zh-TW" sz="2000" dirty="0">
              <a:solidFill>
                <a:schemeClr val="tx1"/>
              </a:solidFill>
            </a:endParaRPr>
          </a:p>
          <a:p>
            <a:pPr marL="1257300" lvl="2" indent="-342900">
              <a:spcBef>
                <a:spcPts val="480"/>
              </a:spcBef>
              <a:buSzPts val="1920"/>
              <a:buFont typeface="+mj-lt"/>
              <a:buAutoNum type="arabicPeriod"/>
            </a:pPr>
            <a:r>
              <a:rPr lang="zh-TW" altLang="en-US" sz="2000" dirty="0">
                <a:solidFill>
                  <a:schemeClr val="tx1"/>
                </a:solidFill>
              </a:rPr>
              <a:t>查詢歷史 </a:t>
            </a:r>
            <a:r>
              <a:rPr lang="en-US" altLang="zh-TW" sz="2000" dirty="0">
                <a:solidFill>
                  <a:schemeClr val="tx1"/>
                </a:solidFill>
              </a:rPr>
              <a:t>command</a:t>
            </a:r>
            <a:r>
              <a:rPr lang="zh-TW" altLang="en-US" sz="2000" dirty="0">
                <a:solidFill>
                  <a:schemeClr val="tx1"/>
                </a:solidFill>
              </a:rPr>
              <a:t> </a:t>
            </a:r>
            <a:r>
              <a:rPr lang="en-US" altLang="zh-TW" sz="2000" dirty="0">
                <a:solidFill>
                  <a:schemeClr val="tx1"/>
                </a:solidFill>
              </a:rPr>
              <a:t>(10%)</a:t>
            </a:r>
          </a:p>
          <a:p>
            <a:pPr marL="1714500" lvl="3" indent="-342900">
              <a:spcBef>
                <a:spcPts val="480"/>
              </a:spcBef>
              <a:buSzPts val="1920"/>
            </a:pPr>
            <a:r>
              <a:rPr lang="zh-TW" altLang="en-US" sz="1800" dirty="0">
                <a:solidFill>
                  <a:schemeClr val="tx1"/>
                </a:solidFill>
              </a:rPr>
              <a:t>按上</a:t>
            </a:r>
            <a:r>
              <a:rPr lang="en-US" altLang="zh-TW" sz="1800" dirty="0">
                <a:solidFill>
                  <a:schemeClr val="tx1"/>
                </a:solidFill>
              </a:rPr>
              <a:t>/</a:t>
            </a:r>
            <a:r>
              <a:rPr lang="zh-TW" altLang="en-US" sz="1800" dirty="0">
                <a:solidFill>
                  <a:schemeClr val="tx1"/>
                </a:solidFill>
              </a:rPr>
              <a:t>下鍵時，印出 </a:t>
            </a:r>
            <a:r>
              <a:rPr lang="en-US" altLang="zh-TW" sz="1800" dirty="0">
                <a:solidFill>
                  <a:schemeClr val="tx1"/>
                </a:solidFill>
              </a:rPr>
              <a:t>prompt </a:t>
            </a:r>
            <a:r>
              <a:rPr lang="zh-TW" altLang="en-US" sz="1800" dirty="0">
                <a:solidFill>
                  <a:schemeClr val="tx1"/>
                </a:solidFill>
              </a:rPr>
              <a:t>及上</a:t>
            </a:r>
            <a:r>
              <a:rPr lang="en-US" altLang="zh-TW" sz="1800" dirty="0">
                <a:solidFill>
                  <a:schemeClr val="tx1"/>
                </a:solidFill>
              </a:rPr>
              <a:t>/</a:t>
            </a:r>
            <a:r>
              <a:rPr lang="zh-TW" altLang="en-US" sz="1800" dirty="0">
                <a:solidFill>
                  <a:schemeClr val="tx1"/>
                </a:solidFill>
              </a:rPr>
              <a:t>下一筆歷史 </a:t>
            </a:r>
            <a:r>
              <a:rPr lang="en-US" altLang="zh-TW" sz="1800" dirty="0">
                <a:solidFill>
                  <a:schemeClr val="tx1"/>
                </a:solidFill>
              </a:rPr>
              <a:t>command</a:t>
            </a:r>
          </a:p>
          <a:p>
            <a:pPr marL="1714500" lvl="3" indent="-342900">
              <a:spcBef>
                <a:spcPts val="480"/>
              </a:spcBef>
              <a:buSzPts val="1920"/>
            </a:pPr>
            <a:r>
              <a:rPr lang="zh-TW" altLang="en-US" sz="1800" dirty="0">
                <a:solidFill>
                  <a:schemeClr val="tx1"/>
                </a:solidFill>
              </a:rPr>
              <a:t>歷史 </a:t>
            </a:r>
            <a:r>
              <a:rPr lang="en-US" altLang="zh-TW" sz="1800" dirty="0">
                <a:solidFill>
                  <a:schemeClr val="tx1"/>
                </a:solidFill>
              </a:rPr>
              <a:t>command </a:t>
            </a:r>
            <a:r>
              <a:rPr lang="zh-TW" altLang="en-US" sz="1800" dirty="0">
                <a:solidFill>
                  <a:schemeClr val="tx1"/>
                </a:solidFill>
              </a:rPr>
              <a:t>印出後，按 </a:t>
            </a:r>
            <a:r>
              <a:rPr lang="en-US" altLang="zh-TW" sz="1800" dirty="0">
                <a:solidFill>
                  <a:schemeClr val="tx1"/>
                </a:solidFill>
              </a:rPr>
              <a:t>enter </a:t>
            </a:r>
            <a:r>
              <a:rPr lang="zh-TW" altLang="en-US" sz="1800" dirty="0">
                <a:solidFill>
                  <a:schemeClr val="tx1"/>
                </a:solidFill>
              </a:rPr>
              <a:t>鍵可執行該歷史 </a:t>
            </a:r>
            <a:r>
              <a:rPr lang="en-US" altLang="zh-TW" sz="1800" dirty="0">
                <a:solidFill>
                  <a:schemeClr val="tx1"/>
                </a:solidFill>
              </a:rPr>
              <a:t>command</a:t>
            </a:r>
          </a:p>
          <a:p>
            <a:pPr marL="1714500" lvl="3" indent="-342900">
              <a:spcBef>
                <a:spcPts val="480"/>
              </a:spcBef>
              <a:buSzPts val="1920"/>
            </a:pPr>
            <a:r>
              <a:rPr lang="en-US" altLang="zh-TW" sz="1800" dirty="0">
                <a:solidFill>
                  <a:schemeClr val="tx1"/>
                </a:solidFill>
              </a:rPr>
              <a:t>Internal commands:</a:t>
            </a:r>
            <a:r>
              <a:rPr lang="zh-TW" altLang="en-US" sz="1800" dirty="0">
                <a:solidFill>
                  <a:schemeClr val="tx1"/>
                </a:solidFill>
              </a:rPr>
              <a:t> </a:t>
            </a:r>
            <a:r>
              <a:rPr lang="en-US" altLang="zh-TW" sz="1800" dirty="0">
                <a:solidFill>
                  <a:schemeClr val="tx1"/>
                </a:solidFill>
              </a:rPr>
              <a:t>history</a:t>
            </a:r>
            <a:br>
              <a:rPr lang="en-US" altLang="zh-TW" sz="1800" dirty="0">
                <a:solidFill>
                  <a:schemeClr val="tx1"/>
                </a:solidFill>
              </a:rPr>
            </a:br>
            <a:r>
              <a:rPr lang="zh-TW" altLang="en-US" sz="1800" dirty="0">
                <a:solidFill>
                  <a:schemeClr val="tx1"/>
                </a:solidFill>
              </a:rPr>
              <a:t>列出 </a:t>
            </a:r>
            <a:r>
              <a:rPr lang="en-US" altLang="zh-TW" sz="1800" dirty="0">
                <a:solidFill>
                  <a:schemeClr val="tx1"/>
                </a:solidFill>
              </a:rPr>
              <a:t>Simple Linux Shell</a:t>
            </a:r>
            <a:r>
              <a:rPr lang="zh-TW" altLang="en-US" sz="1800" dirty="0">
                <a:solidFill>
                  <a:schemeClr val="tx1"/>
                </a:solidFill>
              </a:rPr>
              <a:t> 開啟後所有輸入過的指令</a:t>
            </a:r>
            <a:endParaRPr lang="en-US" altLang="zh-TW" sz="1800" dirty="0">
              <a:solidFill>
                <a:schemeClr val="tx1"/>
              </a:solidFill>
            </a:endParaRPr>
          </a:p>
          <a:p>
            <a:pPr marL="1257300" lvl="2" indent="-342900">
              <a:spcBef>
                <a:spcPts val="480"/>
              </a:spcBef>
              <a:buSzPts val="1920"/>
              <a:buFont typeface="+mj-lt"/>
              <a:buAutoNum type="arabicPeriod"/>
            </a:pPr>
            <a:endParaRPr lang="en-US" altLang="zh-TW" sz="2000" dirty="0">
              <a:solidFill>
                <a:schemeClr val="tx1"/>
              </a:solidFill>
            </a:endParaRPr>
          </a:p>
          <a:p>
            <a:pPr marL="285750" indent="-285750">
              <a:spcBef>
                <a:spcPts val="480"/>
              </a:spcBef>
              <a:buSzPts val="1920"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7" name="Google Shape;118;p2">
            <a:extLst>
              <a:ext uri="{FF2B5EF4-FFF2-40B4-BE49-F238E27FC236}">
                <a16:creationId xmlns:a16="http://schemas.microsoft.com/office/drawing/2014/main" id="{5BC89156-0D31-6C41-A103-F23ADE0E88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Exercise (2/4)</a:t>
            </a:r>
            <a:endParaRPr sz="4400" dirty="0"/>
          </a:p>
        </p:txBody>
      </p:sp>
      <p:sp>
        <p:nvSpPr>
          <p:cNvPr id="4" name="Google Shape;636;p58">
            <a:extLst>
              <a:ext uri="{FF2B5EF4-FFF2-40B4-BE49-F238E27FC236}">
                <a16:creationId xmlns:a16="http://schemas.microsoft.com/office/drawing/2014/main" id="{7F73FDFA-F63E-B26C-3027-F25548996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52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8"/>
          <p:cNvSpPr txBox="1">
            <a:spLocks noGrp="1"/>
          </p:cNvSpPr>
          <p:nvPr>
            <p:ph type="body" idx="1"/>
          </p:nvPr>
        </p:nvSpPr>
        <p:spPr>
          <a:xfrm>
            <a:off x="457200" y="1265238"/>
            <a:ext cx="8229600" cy="475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518"/>
              </a:spcBef>
              <a:spcAft>
                <a:spcPts val="0"/>
              </a:spcAft>
              <a:buSzPct val="75000"/>
              <a:buFont typeface="Noto Sans Symbols"/>
              <a:buChar char="■"/>
            </a:pPr>
            <a:r>
              <a:rPr lang="en-US" sz="2400" dirty="0"/>
              <a:t>Upload your source code to </a:t>
            </a:r>
            <a:r>
              <a:rPr lang="en-US" sz="2400" dirty="0" err="1"/>
              <a:t>iLearning</a:t>
            </a:r>
            <a:endParaRPr lang="en-US" sz="2400" dirty="0"/>
          </a:p>
          <a:p>
            <a:pPr marL="800100" lvl="1" indent="-342900">
              <a:spcBef>
                <a:spcPts val="518"/>
              </a:spcBef>
              <a:buSzPct val="75000"/>
              <a:buFont typeface="Noto Sans Symbols"/>
              <a:buChar char="■"/>
            </a:pPr>
            <a:r>
              <a:rPr lang="en-US" altLang="zh-TW" dirty="0"/>
              <a:t>Due day: </a:t>
            </a:r>
            <a:r>
              <a:rPr lang="en-US" altLang="zh-TW" dirty="0">
                <a:solidFill>
                  <a:srgbClr val="FF0000"/>
                </a:solidFill>
              </a:rPr>
              <a:t>2025/11/20  23:30</a:t>
            </a:r>
          </a:p>
          <a:p>
            <a:pPr marL="800100" lvl="1" indent="-342900">
              <a:spcBef>
                <a:spcPts val="518"/>
              </a:spcBef>
              <a:buSzPct val="75000"/>
              <a:buFont typeface="Noto Sans Symbols"/>
              <a:buChar char="■"/>
            </a:pPr>
            <a:r>
              <a:rPr lang="en-US" dirty="0">
                <a:solidFill>
                  <a:schemeClr val="tx1"/>
                </a:solidFill>
              </a:rPr>
              <a:t>C Standard: </a:t>
            </a:r>
            <a:r>
              <a:rPr lang="en-US" dirty="0">
                <a:solidFill>
                  <a:srgbClr val="FF0000"/>
                </a:solidFill>
              </a:rPr>
              <a:t>C17</a:t>
            </a:r>
            <a:endParaRPr lang="en-US" dirty="0"/>
          </a:p>
          <a:p>
            <a:pPr marL="800100" lvl="1" indent="-342900">
              <a:spcBef>
                <a:spcPts val="518"/>
              </a:spcBef>
              <a:buSzPct val="75000"/>
              <a:buFont typeface="Noto Sans Symbols"/>
              <a:buChar char="■"/>
            </a:pPr>
            <a:r>
              <a:rPr lang="en-US" dirty="0"/>
              <a:t>hw2_&lt;</a:t>
            </a:r>
            <a:r>
              <a:rPr lang="en-US" dirty="0" err="1"/>
              <a:t>學號</a:t>
            </a:r>
            <a:r>
              <a:rPr lang="en-US" dirty="0"/>
              <a:t>&gt;.c  (e.g. hw</a:t>
            </a:r>
            <a:r>
              <a:rPr lang="en-US" altLang="zh-TW" dirty="0"/>
              <a:t>2</a:t>
            </a:r>
            <a:r>
              <a:rPr lang="en-US" dirty="0"/>
              <a:t>_7113056099.c)</a:t>
            </a:r>
          </a:p>
          <a:p>
            <a:pPr marL="800100" lvl="1" indent="-342900">
              <a:spcBef>
                <a:spcPts val="518"/>
              </a:spcBef>
              <a:buSzPct val="75000"/>
              <a:buFont typeface="Noto Sans Symbols"/>
              <a:buChar char="■"/>
            </a:pPr>
            <a:r>
              <a:rPr lang="zh-TW" altLang="en-US" dirty="0"/>
              <a:t>如果有不止一個檔案，請壓縮成 </a:t>
            </a:r>
            <a:r>
              <a:rPr lang="en-US" altLang="zh-TW" dirty="0"/>
              <a:t>hw2_&lt;</a:t>
            </a:r>
            <a:r>
              <a:rPr lang="zh-TW" altLang="en-US" dirty="0"/>
              <a:t>學號</a:t>
            </a:r>
            <a:r>
              <a:rPr lang="en-US" altLang="zh-TW" dirty="0"/>
              <a:t>&gt;</a:t>
            </a:r>
            <a:r>
              <a:rPr lang="en-US" altLang="zh-TW" dirty="0">
                <a:solidFill>
                  <a:srgbClr val="FF0000"/>
                </a:solidFill>
              </a:rPr>
              <a:t>.zip</a:t>
            </a:r>
          </a:p>
          <a:p>
            <a:pPr marL="800100" lvl="1" indent="-342900">
              <a:spcBef>
                <a:spcPts val="518"/>
              </a:spcBef>
              <a:buSzPct val="75000"/>
              <a:buFont typeface="Noto Sans Symbols"/>
              <a:buChar char="■"/>
            </a:pPr>
            <a:endParaRPr lang="en-US" altLang="zh-TW" sz="2000" dirty="0">
              <a:solidFill>
                <a:srgbClr val="FF0000"/>
              </a:solidFill>
            </a:endParaRPr>
          </a:p>
          <a:p>
            <a:pPr marL="342900" indent="-342900">
              <a:spcBef>
                <a:spcPts val="518"/>
              </a:spcBef>
              <a:buSzPct val="75000"/>
            </a:pPr>
            <a:r>
              <a:rPr lang="en-US" sz="2400" dirty="0">
                <a:solidFill>
                  <a:schemeClr val="tx1"/>
                </a:solidFill>
              </a:rPr>
              <a:t>Demo</a:t>
            </a:r>
            <a:endParaRPr sz="2200" dirty="0">
              <a:solidFill>
                <a:schemeClr val="tx1"/>
              </a:solidFill>
            </a:endParaRPr>
          </a:p>
          <a:p>
            <a:pPr marL="800100" lvl="1" indent="-342900">
              <a:spcBef>
                <a:spcPts val="518"/>
              </a:spcBef>
              <a:buSzPct val="75000"/>
              <a:buFont typeface="Noto Sans Symbols"/>
              <a:buChar char="■"/>
            </a:pPr>
            <a:r>
              <a:rPr lang="zh-TW" altLang="en-US" dirty="0">
                <a:solidFill>
                  <a:schemeClr val="tx1"/>
                </a:solidFill>
              </a:rPr>
              <a:t>繳交完成後，需在</a:t>
            </a:r>
            <a:r>
              <a:rPr lang="en-US" altLang="zh-TW" dirty="0">
                <a:solidFill>
                  <a:srgbClr val="FF0000"/>
                </a:solidFill>
              </a:rPr>
              <a:t>11/20</a:t>
            </a:r>
            <a:r>
              <a:rPr lang="zh-TW" altLang="en-US" dirty="0">
                <a:solidFill>
                  <a:schemeClr val="tx1"/>
                </a:solidFill>
              </a:rPr>
              <a:t>前</a:t>
            </a:r>
            <a:r>
              <a:rPr lang="zh-TW" altLang="en-US" dirty="0">
                <a:solidFill>
                  <a:srgbClr val="FF0000"/>
                </a:solidFill>
              </a:rPr>
              <a:t>繳交</a:t>
            </a:r>
            <a:r>
              <a:rPr lang="en-US" altLang="zh-TW" dirty="0">
                <a:solidFill>
                  <a:srgbClr val="FF0000"/>
                </a:solidFill>
              </a:rPr>
              <a:t>demo</a:t>
            </a:r>
            <a:r>
              <a:rPr lang="zh-TW" altLang="en-US" dirty="0">
                <a:solidFill>
                  <a:srgbClr val="FF0000"/>
                </a:solidFill>
              </a:rPr>
              <a:t>影片連結</a:t>
            </a:r>
            <a:r>
              <a:rPr lang="zh-TW" altLang="en-US" dirty="0">
                <a:solidFill>
                  <a:schemeClr val="tx1"/>
                </a:solidFill>
              </a:rPr>
              <a:t>或前往</a:t>
            </a:r>
            <a:r>
              <a:rPr lang="zh-TW" altLang="en-US" dirty="0">
                <a:solidFill>
                  <a:srgbClr val="FF0000"/>
                </a:solidFill>
              </a:rPr>
              <a:t>理學大樓 1001A</a:t>
            </a:r>
            <a:r>
              <a:rPr lang="zh-TW" altLang="en-US" dirty="0">
                <a:solidFill>
                  <a:schemeClr val="tx1"/>
                </a:solidFill>
              </a:rPr>
              <a:t> demo</a:t>
            </a:r>
            <a:endParaRPr lang="en-US" altLang="zh-TW" dirty="0">
              <a:solidFill>
                <a:srgbClr val="000000"/>
              </a:solidFill>
            </a:endParaRPr>
          </a:p>
          <a:p>
            <a:pPr marL="800100" lvl="1" indent="-342900">
              <a:spcBef>
                <a:spcPts val="518"/>
              </a:spcBef>
              <a:buSzPct val="75000"/>
              <a:buFont typeface="Noto Sans Symbols"/>
              <a:buChar char="■"/>
            </a:pPr>
            <a:r>
              <a:rPr lang="zh-TW" altLang="en-US" dirty="0"/>
              <a:t>可預約時間</a:t>
            </a:r>
            <a:r>
              <a:rPr lang="en-US" altLang="zh-TW" dirty="0"/>
              <a:t>: </a:t>
            </a:r>
            <a:r>
              <a:rPr lang="zh-TW" altLang="en-US" dirty="0">
                <a:solidFill>
                  <a:srgbClr val="FF0000"/>
                </a:solidFill>
              </a:rPr>
              <a:t>週二 </a:t>
            </a:r>
            <a:r>
              <a:rPr lang="en-US" altLang="zh-TW" dirty="0">
                <a:solidFill>
                  <a:srgbClr val="FF0000"/>
                </a:solidFill>
              </a:rPr>
              <a:t>9:00-18:00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zh-TW" altLang="en-US" dirty="0">
                <a:solidFill>
                  <a:srgbClr val="FF0000"/>
                </a:solidFill>
              </a:rPr>
              <a:t> 周四</a:t>
            </a:r>
            <a:r>
              <a:rPr lang="en-US" altLang="zh-TW" dirty="0">
                <a:solidFill>
                  <a:srgbClr val="FF0000"/>
                </a:solidFill>
              </a:rPr>
              <a:t>,</a:t>
            </a:r>
            <a:r>
              <a:rPr lang="zh-TW" altLang="en-US" dirty="0">
                <a:solidFill>
                  <a:srgbClr val="FF0000"/>
                </a:solidFill>
              </a:rPr>
              <a:t>五 </a:t>
            </a:r>
            <a:r>
              <a:rPr lang="en-US" altLang="zh-TW" dirty="0">
                <a:solidFill>
                  <a:srgbClr val="FF0000"/>
                </a:solidFill>
              </a:rPr>
              <a:t>9:00-13:00</a:t>
            </a:r>
            <a:br>
              <a:rPr lang="en-US" altLang="zh-TW" dirty="0">
                <a:solidFill>
                  <a:srgbClr val="FF0000"/>
                </a:solidFill>
              </a:rPr>
            </a:br>
            <a:r>
              <a:rPr lang="zh-TW" altLang="en-US" dirty="0"/>
              <a:t>請先提前寄 </a:t>
            </a:r>
            <a:r>
              <a:rPr lang="en-US" altLang="zh-TW" dirty="0"/>
              <a:t>email</a:t>
            </a:r>
            <a:r>
              <a:rPr lang="zh-TW" altLang="en-US" dirty="0"/>
              <a:t> 預約</a:t>
            </a:r>
            <a:endParaRPr lang="en-US" altLang="zh-TW" dirty="0"/>
          </a:p>
          <a:p>
            <a:pPr marL="800100" lvl="1" indent="-342900">
              <a:spcBef>
                <a:spcPts val="518"/>
              </a:spcBef>
              <a:buSzPct val="75000"/>
              <a:buChar char="■"/>
            </a:pPr>
            <a:r>
              <a:rPr lang="en-US" dirty="0">
                <a:solidFill>
                  <a:srgbClr val="000000"/>
                </a:solidFill>
              </a:rPr>
              <a:t>Environment: 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Ubuntu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altLang="zh-TW" dirty="0">
                <a:solidFill>
                  <a:srgbClr val="FF0000"/>
                </a:solidFill>
              </a:rPr>
              <a:t>4</a:t>
            </a:r>
            <a:r>
              <a:rPr lang="en-US" dirty="0">
                <a:solidFill>
                  <a:srgbClr val="FF0000"/>
                </a:solidFill>
              </a:rPr>
              <a:t>.04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ONLY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with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build-essential </a:t>
            </a:r>
            <a:r>
              <a:rPr lang="en-US" dirty="0">
                <a:solidFill>
                  <a:schemeClr val="tx1"/>
                </a:solidFill>
              </a:rPr>
              <a:t>package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altLang="zh-TW" dirty="0" err="1">
                <a:solidFill>
                  <a:srgbClr val="FF0000"/>
                </a:solidFill>
              </a:rPr>
              <a:t>l</a:t>
            </a:r>
            <a:r>
              <a:rPr lang="en-US" altLang="zh-TW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ibreadline</a:t>
            </a:r>
            <a:r>
              <a:rPr lang="en-US" altLang="zh-TW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-dev</a:t>
            </a:r>
            <a:r>
              <a:rPr lang="zh-TW" altLang="en-US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package </a:t>
            </a:r>
            <a:r>
              <a:rPr lang="zh-TW" altLang="en-US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不強制但建議使用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		        </a:t>
            </a:r>
            <a:endParaRPr lang="en-US" altLang="zh-TW" sz="2000" dirty="0">
              <a:solidFill>
                <a:schemeClr val="tx1"/>
              </a:solidFill>
            </a:endParaRPr>
          </a:p>
        </p:txBody>
      </p:sp>
      <p:sp>
        <p:nvSpPr>
          <p:cNvPr id="636" name="Google Shape;636;p5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53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" name="Google Shape;118;p2">
            <a:extLst>
              <a:ext uri="{FF2B5EF4-FFF2-40B4-BE49-F238E27FC236}">
                <a16:creationId xmlns:a16="http://schemas.microsoft.com/office/drawing/2014/main" id="{1C10246E-D72A-7D23-A467-D9008F009A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Exercise (3/4)</a:t>
            </a:r>
            <a:endParaRPr sz="4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35;p58">
            <a:extLst>
              <a:ext uri="{FF2B5EF4-FFF2-40B4-BE49-F238E27FC236}">
                <a16:creationId xmlns:a16="http://schemas.microsoft.com/office/drawing/2014/main" id="{36D941EC-B992-0AEB-F490-64D92971ADE0}"/>
              </a:ext>
            </a:extLst>
          </p:cNvPr>
          <p:cNvSpPr txBox="1">
            <a:spLocks/>
          </p:cNvSpPr>
          <p:nvPr/>
        </p:nvSpPr>
        <p:spPr>
          <a:xfrm>
            <a:off x="609600" y="1417638"/>
            <a:ext cx="8229600" cy="475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432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289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17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spcBef>
                <a:spcPts val="518"/>
              </a:spcBef>
              <a:buSzPct val="75000"/>
            </a:pPr>
            <a:r>
              <a:rPr lang="en-US" altLang="zh-TW" sz="2200" dirty="0"/>
              <a:t>If U have any question</a:t>
            </a:r>
            <a:endParaRPr lang="zh-TW" altLang="en-US" dirty="0"/>
          </a:p>
          <a:p>
            <a:pPr marL="800100" lvl="1" indent="-342900">
              <a:spcBef>
                <a:spcPts val="518"/>
              </a:spcBef>
              <a:buSzPct val="75000"/>
            </a:pPr>
            <a:r>
              <a:rPr lang="en-US" altLang="zh-TW" sz="2000" dirty="0"/>
              <a:t>TA: </a:t>
            </a:r>
            <a:r>
              <a:rPr lang="zh-TW" altLang="en-US" sz="2000" dirty="0"/>
              <a:t>陳柏安、葉弘堯</a:t>
            </a:r>
            <a:endParaRPr lang="en-US" altLang="zh-TW" sz="2000" dirty="0"/>
          </a:p>
          <a:p>
            <a:pPr marL="800100" lvl="1" indent="-342900">
              <a:spcBef>
                <a:spcPts val="518"/>
              </a:spcBef>
              <a:buSzPct val="75000"/>
            </a:pPr>
            <a:r>
              <a:rPr lang="en-US" altLang="zh-TW" sz="2000" dirty="0"/>
              <a:t>Email: bobbob930127@gmail.com</a:t>
            </a:r>
            <a:r>
              <a:rPr lang="zh-TW" altLang="en-US" sz="2000" dirty="0"/>
              <a:t>、</a:t>
            </a:r>
            <a:endParaRPr lang="en-US" altLang="zh-TW" sz="2000" dirty="0"/>
          </a:p>
          <a:p>
            <a:pPr marL="457200" lvl="1" indent="0">
              <a:spcBef>
                <a:spcPts val="518"/>
              </a:spcBef>
              <a:buSzPct val="75000"/>
              <a:buNone/>
            </a:pPr>
            <a:r>
              <a:rPr lang="en-US" altLang="zh-TW" sz="2000" dirty="0"/>
              <a:t>                  nelson1128666@gmail.com</a:t>
            </a:r>
          </a:p>
        </p:txBody>
      </p:sp>
      <p:sp>
        <p:nvSpPr>
          <p:cNvPr id="636" name="Google Shape;636;p5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54</a:t>
            </a:fld>
            <a:endParaRPr sz="1200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" name="Google Shape;118;p2">
            <a:extLst>
              <a:ext uri="{FF2B5EF4-FFF2-40B4-BE49-F238E27FC236}">
                <a16:creationId xmlns:a16="http://schemas.microsoft.com/office/drawing/2014/main" id="{304CFBAD-9E99-39F5-5B16-6EA6577A98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Exercise (4/4)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3405339061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14788</TotalTime>
  <Words>2236</Words>
  <Application>Microsoft Office PowerPoint</Application>
  <PresentationFormat>如螢幕大小 (4:3)</PresentationFormat>
  <Paragraphs>470</Paragraphs>
  <Slides>54</Slides>
  <Notes>54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54</vt:i4>
      </vt:variant>
    </vt:vector>
  </HeadingPairs>
  <TitlesOfParts>
    <vt:vector size="61" baseType="lpstr">
      <vt:lpstr>Arial Black</vt:lpstr>
      <vt:lpstr>Noto Sans Symbols</vt:lpstr>
      <vt:lpstr>Wingdings</vt:lpstr>
      <vt:lpstr>Times New Roman</vt:lpstr>
      <vt:lpstr>Calibri</vt:lpstr>
      <vt:lpstr>Arial</vt:lpstr>
      <vt:lpstr>Pixel</vt:lpstr>
      <vt:lpstr>Homework Assignment #2 Shell</vt:lpstr>
      <vt:lpstr>Outline</vt:lpstr>
      <vt:lpstr>Introduction (1/3)</vt:lpstr>
      <vt:lpstr>Introduction (2/3)</vt:lpstr>
      <vt:lpstr>Introduction (3/3)</vt:lpstr>
      <vt:lpstr>Outline</vt:lpstr>
      <vt:lpstr>Unix Variables (1/3)</vt:lpstr>
      <vt:lpstr>Unix Variables (2/3)</vt:lpstr>
      <vt:lpstr>Unix Variables (3/3)</vt:lpstr>
      <vt:lpstr>Outline</vt:lpstr>
      <vt:lpstr>PowerPoint 簡報</vt:lpstr>
      <vt:lpstr>PATH (2/4)</vt:lpstr>
      <vt:lpstr>PowerPoint 簡報</vt:lpstr>
      <vt:lpstr>PATH (4/4)</vt:lpstr>
      <vt:lpstr>Outline</vt:lpstr>
      <vt:lpstr>fork() and wait() (1/5)</vt:lpstr>
      <vt:lpstr>fork() and wait() (2/5)</vt:lpstr>
      <vt:lpstr>fork() and wait() (3/5)</vt:lpstr>
      <vt:lpstr>fork() and wait() (4/5)</vt:lpstr>
      <vt:lpstr>fork() and wait() (5/5)</vt:lpstr>
      <vt:lpstr>Outline</vt:lpstr>
      <vt:lpstr>Exec Family (1/4)</vt:lpstr>
      <vt:lpstr>Exec Family (2/4)</vt:lpstr>
      <vt:lpstr>Exec Family (3/4)</vt:lpstr>
      <vt:lpstr>Exec Family (4/4)</vt:lpstr>
      <vt:lpstr>Outline</vt:lpstr>
      <vt:lpstr>Internal Command (1/5)</vt:lpstr>
      <vt:lpstr>Internal Command (2/5)</vt:lpstr>
      <vt:lpstr>Internal Command (3/5)</vt:lpstr>
      <vt:lpstr>Internal Command (4/5)</vt:lpstr>
      <vt:lpstr>Internal Command (5/5)</vt:lpstr>
      <vt:lpstr>Outline</vt:lpstr>
      <vt:lpstr>External Command (1/2)</vt:lpstr>
      <vt:lpstr>External Command (2/2)</vt:lpstr>
      <vt:lpstr>Outline</vt:lpstr>
      <vt:lpstr>Background Execution (1/2)</vt:lpstr>
      <vt:lpstr>Background Execution (2/2)</vt:lpstr>
      <vt:lpstr>Outline</vt:lpstr>
      <vt:lpstr>Output Redirection (1/5)</vt:lpstr>
      <vt:lpstr>Output Redirection (2/5)</vt:lpstr>
      <vt:lpstr>Output Redirection (3/5)</vt:lpstr>
      <vt:lpstr>Output Redirection (4/5)</vt:lpstr>
      <vt:lpstr>Output Redirection (5/5)</vt:lpstr>
      <vt:lpstr>Outline</vt:lpstr>
      <vt:lpstr>Command History (1/5)</vt:lpstr>
      <vt:lpstr>Command History (2/5)</vt:lpstr>
      <vt:lpstr>Command History (3/5)</vt:lpstr>
      <vt:lpstr>Command History (4/5)</vt:lpstr>
      <vt:lpstr>Command History (5/5)</vt:lpstr>
      <vt:lpstr>Outline</vt:lpstr>
      <vt:lpstr>Exercise (1/4)</vt:lpstr>
      <vt:lpstr>Exercise (2/4)</vt:lpstr>
      <vt:lpstr>Exercise (3/4)</vt:lpstr>
      <vt:lpstr>Exercise (4/4)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Assignment #2 Shell</dc:title>
  <dc:creator>Hms</dc:creator>
  <cp:lastModifiedBy>弘堯 葉</cp:lastModifiedBy>
  <cp:revision>178</cp:revision>
  <dcterms:created xsi:type="dcterms:W3CDTF">2009-04-29T12:20:32Z</dcterms:created>
  <dcterms:modified xsi:type="dcterms:W3CDTF">2026-10-19T13:33:29Z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2024-10-15T02:11:52Z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dc902288-ad7c-4868-9922-3682d81b1d8e</vt:lpwstr>
  </property>
  <property fmtid="{D5CDD505-2E9C-101B-9397-08002B2CF9AE}" pid="7" name="MSIP_Label_defa4170-0d19-0005-0004-bc88714345d2_ActionId">
    <vt:lpwstr>4a203770-b183-47cd-b973-6ba815e9b611</vt:lpwstr>
  </property>
  <property fmtid="{D5CDD505-2E9C-101B-9397-08002B2CF9AE}" pid="8" name="MSIP_Label_defa4170-0d19-0005-0004-bc88714345d2_ContentBits">
    <vt:lpwstr>0</vt:lpwstr>
  </property>
</Properties>
</file>